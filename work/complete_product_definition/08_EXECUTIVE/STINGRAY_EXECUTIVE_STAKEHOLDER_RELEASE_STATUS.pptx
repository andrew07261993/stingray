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7a14c14ffd461f" /><Relationship Type="http://schemas.openxmlformats.org/officeDocument/2006/relationships/extended-properties" Target="/docProps/app.xml" Id="R98c1d933d3984317" /><Relationship Type="http://schemas.openxmlformats.org/officeDocument/2006/relationships/officeDocument" Target="/ppt/presentation.xml" Id="R2c01d741a15b4f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e96a5374554533"/>
  </p:sldMasterIdLst>
  <p:notesMasterIdLst>
    <p:notesMasterId xmlns:r="http://schemas.openxmlformats.org/officeDocument/2006/relationships" r:id="R6d4c5b17f7774dbc"/>
  </p:notesMasterIdLst>
  <p:sldIdLst>
    <p:sldId xmlns:r="http://schemas.openxmlformats.org/officeDocument/2006/relationships" id="256" r:id="R097f40d0cbc54cb9"/>
    <p:sldId xmlns:r="http://schemas.openxmlformats.org/officeDocument/2006/relationships" id="257" r:id="Rdfd1a3c5b6df44bb"/>
    <p:sldId xmlns:r="http://schemas.openxmlformats.org/officeDocument/2006/relationships" id="258" r:id="Rb37a717a86ab4bdd"/>
    <p:sldId xmlns:r="http://schemas.openxmlformats.org/officeDocument/2006/relationships" id="259" r:id="R0a5a510613f14218"/>
    <p:sldId xmlns:r="http://schemas.openxmlformats.org/officeDocument/2006/relationships" id="260" r:id="R28a077a17a9c46f2"/>
    <p:sldId xmlns:r="http://schemas.openxmlformats.org/officeDocument/2006/relationships" id="261" r:id="R503f990a9aa24b30"/>
    <p:sldId xmlns:r="http://schemas.openxmlformats.org/officeDocument/2006/relationships" id="262" r:id="R71c57cb42f0b4b60"/>
    <p:sldId xmlns:r="http://schemas.openxmlformats.org/officeDocument/2006/relationships" id="263" r:id="R3280c9acb4b3415b"/>
    <p:sldId xmlns:r="http://schemas.openxmlformats.org/officeDocument/2006/relationships" id="264" r:id="R241e392d4f89416a"/>
    <p:sldId xmlns:r="http://schemas.openxmlformats.org/officeDocument/2006/relationships" id="265" r:id="R8c98a957f3894ffc"/>
    <p:sldId xmlns:r="http://schemas.openxmlformats.org/officeDocument/2006/relationships" id="266" r:id="R2b37e9da25bd40e8"/>
    <p:sldId xmlns:r="http://schemas.openxmlformats.org/officeDocument/2006/relationships" id="267" r:id="R0cb57ad980dc4095"/>
    <p:sldId xmlns:r="http://schemas.openxmlformats.org/officeDocument/2006/relationships" id="268" r:id="R0d1bd587b97347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5ad6943e0547a6" /><Relationship Type="http://schemas.openxmlformats.org/officeDocument/2006/relationships/slideMaster" Target="/ppt/slideMasters/slideMaster1.xml" Id="R33e96a5374554533" /><Relationship Type="http://schemas.openxmlformats.org/officeDocument/2006/relationships/notesMaster" Target="/ppt/notesMasters/notesMaster1.xml" Id="R6d4c5b17f7774dbc" /><Relationship Type="http://schemas.openxmlformats.org/officeDocument/2006/relationships/presProps" Target="/ppt/presProps.xml" Id="Re7f25c6ce4c34630" /><Relationship Type="http://schemas.openxmlformats.org/officeDocument/2006/relationships/tableStyles" Target="/ppt/tableStyles.xml" Id="Rcfe53a55fdc74deb" /><Relationship Type="http://schemas.openxmlformats.org/officeDocument/2006/relationships/slide" Target="/ppt/slides/slide1.xml" Id="R097f40d0cbc54cb9" /><Relationship Type="http://schemas.openxmlformats.org/officeDocument/2006/relationships/slide" Target="/ppt/slides/slide2.xml" Id="Rdfd1a3c5b6df44bb" /><Relationship Type="http://schemas.openxmlformats.org/officeDocument/2006/relationships/slide" Target="/ppt/slides/slide3.xml" Id="Rb37a717a86ab4bdd" /><Relationship Type="http://schemas.openxmlformats.org/officeDocument/2006/relationships/slide" Target="/ppt/slides/slide4.xml" Id="R0a5a510613f14218" /><Relationship Type="http://schemas.openxmlformats.org/officeDocument/2006/relationships/slide" Target="/ppt/slides/slide5.xml" Id="R28a077a17a9c46f2" /><Relationship Type="http://schemas.openxmlformats.org/officeDocument/2006/relationships/slide" Target="/ppt/slides/slide6.xml" Id="R503f990a9aa24b30" /><Relationship Type="http://schemas.openxmlformats.org/officeDocument/2006/relationships/slide" Target="/ppt/slides/slide7.xml" Id="R71c57cb42f0b4b60" /><Relationship Type="http://schemas.openxmlformats.org/officeDocument/2006/relationships/slide" Target="/ppt/slides/slide8.xml" Id="R3280c9acb4b3415b" /><Relationship Type="http://schemas.openxmlformats.org/officeDocument/2006/relationships/slide" Target="/ppt/slides/slide9.xml" Id="R241e392d4f89416a" /><Relationship Type="http://schemas.openxmlformats.org/officeDocument/2006/relationships/slide" Target="/ppt/slides/slide10.xml" Id="R8c98a957f3894ffc" /><Relationship Type="http://schemas.openxmlformats.org/officeDocument/2006/relationships/slide" Target="/ppt/slides/slide11.xml" Id="R2b37e9da25bd40e8" /><Relationship Type="http://schemas.openxmlformats.org/officeDocument/2006/relationships/slide" Target="/ppt/slides/slide12.xml" Id="R0cb57ad980dc4095" /><Relationship Type="http://schemas.openxmlformats.org/officeDocument/2006/relationships/slide" Target="/ppt/slides/slide13.xml" Id="R0d1bd587b97347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caf6325f0945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1d1fc188d0487e" /><Relationship Type="http://schemas.openxmlformats.org/officeDocument/2006/relationships/notesMaster" Target="/ppt/notesMasters/notesMaster1.xml" Id="Ra0231eca8cb644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b60c79846a4964" /><Relationship Type="http://schemas.openxmlformats.org/officeDocument/2006/relationships/notesMaster" Target="/ppt/notesMasters/notesMaster1.xml" Id="R61003034ca5047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4c10bc38ee4bea" /><Relationship Type="http://schemas.openxmlformats.org/officeDocument/2006/relationships/notesMaster" Target="/ppt/notesMasters/notesMaster1.xml" Id="R71ab3f128e8d48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3e7f1067e845bd" /><Relationship Type="http://schemas.openxmlformats.org/officeDocument/2006/relationships/notesMaster" Target="/ppt/notesMasters/notesMaster1.xml" Id="Re6015c459fed41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71021d8f004203" /><Relationship Type="http://schemas.openxmlformats.org/officeDocument/2006/relationships/notesMaster" Target="/ppt/notesMasters/notesMaster1.xml" Id="R1c0190a19353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7d24a0fc684e6f" /><Relationship Type="http://schemas.openxmlformats.org/officeDocument/2006/relationships/notesMaster" Target="/ppt/notesMasters/notesMaster1.xml" Id="R94e3a104dade4d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25da081b1c4134" /><Relationship Type="http://schemas.openxmlformats.org/officeDocument/2006/relationships/notesMaster" Target="/ppt/notesMasters/notesMaster1.xml" Id="Rcb55eb04d1344e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bb6d8053084e06" /><Relationship Type="http://schemas.openxmlformats.org/officeDocument/2006/relationships/notesMaster" Target="/ppt/notesMasters/notesMaster1.xml" Id="R8beba6a3623644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3524e833b94967" /><Relationship Type="http://schemas.openxmlformats.org/officeDocument/2006/relationships/notesMaster" Target="/ppt/notesMasters/notesMaster1.xml" Id="Rec7018b7c5ee41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12e589d6f34749" /><Relationship Type="http://schemas.openxmlformats.org/officeDocument/2006/relationships/notesMaster" Target="/ppt/notesMasters/notesMaster1.xml" Id="R160625f5c48c45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7ea5d63ab2429b" /><Relationship Type="http://schemas.openxmlformats.org/officeDocument/2006/relationships/notesMaster" Target="/ppt/notesMasters/notesMaster1.xml" Id="R2d5ce8eca9134a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83a0e66a1e4db0" /><Relationship Type="http://schemas.openxmlformats.org/officeDocument/2006/relationships/notesMaster" Target="/ppt/notesMasters/notesMaster1.xml" Id="R919fac7e018b44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59176e92be4b7e" /><Relationship Type="http://schemas.openxmlformats.org/officeDocument/2006/relationships/notesMaster" Target="/ppt/notesMasters/notesMaster1.xml" Id="R6bb33238a03949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896d8d4084a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6363eff1724f47" /><Relationship Type="http://schemas.openxmlformats.org/officeDocument/2006/relationships/slideLayout" Target="/ppt/slideLayouts/slideLayout1.xml" Id="Rd6d156cf57794b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d156cf57794b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43db4e08e4821" /><Relationship Type="http://schemas.openxmlformats.org/officeDocument/2006/relationships/image" Target="/ppt/media/image.png" Id="R70081b62bb51435a" /><Relationship Type="http://schemas.openxmlformats.org/officeDocument/2006/relationships/notesSlide" Target="/ppt/notesSlides/notesSlide1.xml" Id="R07c614dd841f4b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39165cbcc4c85" /><Relationship Type="http://schemas.openxmlformats.org/officeDocument/2006/relationships/image" Target="/ppt/media/image2.png" Id="R18142898e98d420e" /><Relationship Type="http://schemas.openxmlformats.org/officeDocument/2006/relationships/image" Target="/ppt/media/image3.png" Id="Rb9584a21e9744c87" /><Relationship Type="http://schemas.openxmlformats.org/officeDocument/2006/relationships/notesSlide" Target="/ppt/notesSlides/notesSlide2.xml" Id="Rb284817c148d42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fd384c7934c78" /><Relationship Type="http://schemas.openxmlformats.org/officeDocument/2006/relationships/notesSlide" Target="/ppt/notesSlides/notesSlide3.xml" Id="Ra2814d70afc64d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0166cf27c47a3" /><Relationship Type="http://schemas.openxmlformats.org/officeDocument/2006/relationships/image" Target="/ppt/media/image4.png" Id="Rd7fd3ce8938c40d3" /><Relationship Type="http://schemas.openxmlformats.org/officeDocument/2006/relationships/notesSlide" Target="/ppt/notesSlides/notesSlide4.xml" Id="R64b866e1e87c43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812d66bad4c24" /><Relationship Type="http://schemas.openxmlformats.org/officeDocument/2006/relationships/notesSlide" Target="/ppt/notesSlides/notesSlide5.xml" Id="R88a2ee0df1a74e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ef164a7924394" /><Relationship Type="http://schemas.openxmlformats.org/officeDocument/2006/relationships/image" Target="/ppt/media/image5.png" Id="Rd6df246ead0240ef" /><Relationship Type="http://schemas.openxmlformats.org/officeDocument/2006/relationships/image" Target="/ppt/media/image6.png" Id="R89da8cd86f244fb6" /><Relationship Type="http://schemas.openxmlformats.org/officeDocument/2006/relationships/notesSlide" Target="/ppt/notesSlides/notesSlide6.xml" Id="Rd01812396ebb43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ab8ac4b244f31" /><Relationship Type="http://schemas.openxmlformats.org/officeDocument/2006/relationships/image" Target="/ppt/media/image7.png" Id="R2df9d868dc874bfd" /><Relationship Type="http://schemas.openxmlformats.org/officeDocument/2006/relationships/notesSlide" Target="/ppt/notesSlides/notesSlide7.xml" Id="R89519e8dc7c74a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e003e1f314f29" /><Relationship Type="http://schemas.openxmlformats.org/officeDocument/2006/relationships/notesSlide" Target="/ppt/notesSlides/notesSlide8.xml" Id="Ra17a0fab22314c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d861a27894682" /><Relationship Type="http://schemas.openxmlformats.org/officeDocument/2006/relationships/image" Target="/ppt/media/image8.png" Id="R8f23c42cc399422e" /><Relationship Type="http://schemas.openxmlformats.org/officeDocument/2006/relationships/notesSlide" Target="/ppt/notesSlides/notesSlide9.xml" Id="Rd7454636280e4a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4b1edddb440b1" /><Relationship Type="http://schemas.openxmlformats.org/officeDocument/2006/relationships/notesSlide" Target="/ppt/notesSlides/notesSlide10.xml" Id="R45647c946e2b40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be7abbbed48bd" /><Relationship Type="http://schemas.openxmlformats.org/officeDocument/2006/relationships/notesSlide" Target="/ppt/notesSlides/notesSlide11.xml" Id="R28b91a4f306e4c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0007c2ffe41ac" /><Relationship Type="http://schemas.openxmlformats.org/officeDocument/2006/relationships/notesSlide" Target="/ppt/notesSlides/notesSlide12.xml" Id="R1a43196ba04846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2f4f0c0734672" /><Relationship Type="http://schemas.openxmlformats.org/officeDocument/2006/relationships/notesSlide" Target="/ppt/notesSlides/notesSlide13.xml" Id="Rae5c15eb342b4e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17B8492-83AB-464F-B7F7-69C1E594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EXECUTIVE RELEASE STATUS | 26 AUGUST 2026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939F69F-DDA4-4535-930C-E2022EA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5238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STINGRAY digital product definition</a:t>
            </a:r>
          </a:p>
        </p:txBody>
      </p:sp>
      <p:sp>
        <p:nvSpPr>
          <p:cNvPr id="3" name="cover-claim">
            <a:extLst xmlns:a="http://schemas.openxmlformats.org/drawingml/2006/main">
              <a:ext uri="{FF2B5EF4-FFF2-40B4-BE49-F238E27FC236}">
                <a16:creationId xmlns:a16="http://schemas.microsoft.com/office/drawing/2014/main" id="{7A00943E-887F-44E1-8780-CC90E949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514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</a:defRPr>
            </a:pPr>
            <a:r>
              <a:rPr sz="1875">
                <a:solidFill>
                  <a:srgbClr val="000000"/>
                </a:solidFill>
              </a:rPr>
              <a:t>The mechanism is digitally coherent. The inflation architecture is not releaseable.</a:t>
            </a:r>
          </a:p>
        </p:txBody>
      </p:sp>
      <p:sp>
        <p:nvSpPr>
          <p:cNvPr id="4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799CC2DB-50CD-4774-BA4F-3267617B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5143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5" name="cover-status-text">
            <a:extLst xmlns:a="http://schemas.openxmlformats.org/drawingml/2006/main">
              <a:ext uri="{FF2B5EF4-FFF2-40B4-BE49-F238E27FC236}">
                <a16:creationId xmlns:a16="http://schemas.microsoft.com/office/drawing/2014/main" id="{ACAA8282-F58E-4418-AC68-9E8CC96C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NOT RELEASED FOR FABRICATION OR FIELD USE</a:t>
            </a:r>
          </a:p>
        </p:txBody>
      </p:sp>
      <p:sp>
        <p:nvSpPr>
          <p:cNvPr id="6" name="cover-config">
            <a:extLst xmlns:a="http://schemas.openxmlformats.org/drawingml/2006/main">
              <a:ext uri="{FF2B5EF4-FFF2-40B4-BE49-F238E27FC236}">
                <a16:creationId xmlns:a16="http://schemas.microsoft.com/office/drawing/2014/main" id="{96AB22E9-7E75-4A50-B677-EEED04E4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19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Frozen configuration: 1,675.4 mm rigid body | 355 mm arm pivot | external 60 L buoy pack</a:t>
            </a:r>
          </a:p>
        </p:txBody>
      </p:sp>
      <p:sp>
        <p:nvSpPr>
          <p:cNvPr id="7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D4AB7A6D-4DEA-407F-9257-F3BB2CA7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60070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81b62bb51435a"/>
          <a:stretch xmlns:a="http://schemas.openxmlformats.org/drawingml/2006/main"/>
        </p:blipFill>
        <p:spPr>
          <a:xfrm xmlns:a="http://schemas.openxmlformats.org/drawingml/2006/main">
            <a:off x="6191250" y="2021414"/>
            <a:ext cx="5600700" cy="2357971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9" name="evidence-1">
            <a:extLst xmlns:a="http://schemas.openxmlformats.org/drawingml/2006/main">
              <a:ext uri="{FF2B5EF4-FFF2-40B4-BE49-F238E27FC236}">
                <a16:creationId xmlns:a16="http://schemas.microsoft.com/office/drawing/2014/main" id="{94017317-19FA-4FED-8914-1F1E8725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Release Index; Non-Release Exception Report</a:t>
            </a:r>
          </a:p>
        </p:txBody>
      </p:sp>
      <p:sp>
        <p:nvSpPr>
          <p:cNvPr id="10" name="page-1">
            <a:extLst xmlns:a="http://schemas.openxmlformats.org/drawingml/2006/main">
              <a:ext uri="{FF2B5EF4-FFF2-40B4-BE49-F238E27FC236}">
                <a16:creationId xmlns:a16="http://schemas.microsoft.com/office/drawing/2014/main" id="{891C0CB5-427E-4038-9F4C-838157D2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77909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2">
            <a:extLst xmlns:a="http://schemas.openxmlformats.org/drawingml/2006/main">
              <a:ext uri="{FF2B5EF4-FFF2-40B4-BE49-F238E27FC236}">
                <a16:creationId xmlns:a16="http://schemas.microsoft.com/office/drawing/2014/main" id="{4071E089-9791-4DC6-9626-BE22B86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STINGRAY DIGITAL PRODUCT DEFINITION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1489754-8DC8-4D3F-8FF3-5CADFF33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 compact body deploys arms and an external recovery buoy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EA91BB4F-FAD1-45B3-BCCC-B5C52C94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184A8F54-BB54-43B2-B594-7D6377A3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The system is intended to remain compact before use, deploy three arms, open an aft softgoods pack, and transfer recovery load through a dedicated tether path.</a:t>
            </a:r>
          </a:p>
        </p:txBody>
      </p:sp>
      <p:sp>
        <p:nvSpPr>
          <p:cNvPr id="5" name="purpose-stowed-backing">
            <a:extLst xmlns:a="http://schemas.openxmlformats.org/drawingml/2006/main">
              <a:ext uri="{FF2B5EF4-FFF2-40B4-BE49-F238E27FC236}">
                <a16:creationId xmlns:a16="http://schemas.microsoft.com/office/drawing/2014/main" id="{EDD4E442-B315-430B-9FD4-FFAD1F1C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54292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42898e98d420e"/>
          <a:stretch xmlns:a="http://schemas.openxmlformats.org/drawingml/2006/main"/>
        </p:blipFill>
        <p:spPr>
          <a:xfrm xmlns:a="http://schemas.openxmlformats.org/drawingml/2006/main">
            <a:off x="400050" y="3687489"/>
            <a:ext cx="5429250" cy="873672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7" name="purpose-deployed-backing">
            <a:extLst xmlns:a="http://schemas.openxmlformats.org/drawingml/2006/main">
              <a:ext uri="{FF2B5EF4-FFF2-40B4-BE49-F238E27FC236}">
                <a16:creationId xmlns:a16="http://schemas.microsoft.com/office/drawing/2014/main" id="{1159C26B-0698-4C45-8B78-EAC8EBA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54292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84a21e9744c87"/>
          <a:stretch xmlns:a="http://schemas.openxmlformats.org/drawingml/2006/main"/>
        </p:blipFill>
        <p:spPr>
          <a:xfrm xmlns:a="http://schemas.openxmlformats.org/drawingml/2006/main">
            <a:off x="6362700" y="2981431"/>
            <a:ext cx="5429250" cy="2285789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9" name="purpose-stowed-label">
            <a:extLst xmlns:a="http://schemas.openxmlformats.org/drawingml/2006/main">
              <a:ext uri="{FF2B5EF4-FFF2-40B4-BE49-F238E27FC236}">
                <a16:creationId xmlns:a16="http://schemas.microsoft.com/office/drawing/2014/main" id="{A77BF5B8-FE6F-4710-87EA-F95C4817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STOWED - 1,675.4 mm rigid length</a:t>
            </a:r>
          </a:p>
        </p:txBody>
      </p:sp>
      <p:sp>
        <p:nvSpPr>
          <p:cNvPr id="10" name="purpose-deployed-label">
            <a:extLst xmlns:a="http://schemas.openxmlformats.org/drawingml/2006/main">
              <a:ext uri="{FF2B5EF4-FFF2-40B4-BE49-F238E27FC236}">
                <a16:creationId xmlns:a16="http://schemas.microsoft.com/office/drawing/2014/main" id="{89457CB3-9B1E-45AE-AAD5-9D380C7D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62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DEPLOYED - 80 degree arms, open pack</a:t>
            </a:r>
          </a:p>
        </p:txBody>
      </p:sp>
      <p:sp>
        <p:nvSpPr>
          <p:cNvPr id="11" name="evidence-2">
            <a:extLst xmlns:a="http://schemas.openxmlformats.org/drawingml/2006/main">
              <a:ext uri="{FF2B5EF4-FFF2-40B4-BE49-F238E27FC236}">
                <a16:creationId xmlns:a16="http://schemas.microsoft.com/office/drawing/2014/main" id="{8DD6CCDB-69C2-4A00-A92C-D6293EEA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Technical Analysis Report sections 5-6; CAD views 07-08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BA25DE8D-F6D9-4D25-BFF3-086E1352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86042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3">
            <a:extLst xmlns:a="http://schemas.openxmlformats.org/drawingml/2006/main">
              <a:ext uri="{FF2B5EF4-FFF2-40B4-BE49-F238E27FC236}">
                <a16:creationId xmlns:a16="http://schemas.microsoft.com/office/drawing/2014/main" id="{7D97F7CE-2335-4081-BA2C-0FA22F76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STINGRAY DIGITAL PRODUCT DEFINITION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9BC35C7-051E-4A39-9841-044725B1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Operation is a five-step chain - and every link must work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DD7E245B-9148-470C-82B3-7DCDBDB5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equence-panel-0">
            <a:extLst xmlns:a="http://schemas.openxmlformats.org/drawingml/2006/main">
              <a:ext uri="{FF2B5EF4-FFF2-40B4-BE49-F238E27FC236}">
                <a16:creationId xmlns:a16="http://schemas.microsoft.com/office/drawing/2014/main" id="{DC6311A3-AC0F-4F67-A640-02FC58B5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019300" cy="25146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equence-number-0">
            <a:extLst xmlns:a="http://schemas.openxmlformats.org/drawingml/2006/main">
              <a:ext uri="{FF2B5EF4-FFF2-40B4-BE49-F238E27FC236}">
                <a16:creationId xmlns:a16="http://schemas.microsoft.com/office/drawing/2014/main" id="{18CE0F54-4885-4127-803B-73E9925D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sequence-label-0">
            <a:extLst xmlns:a="http://schemas.openxmlformats.org/drawingml/2006/main">
              <a:ext uri="{FF2B5EF4-FFF2-40B4-BE49-F238E27FC236}">
                <a16:creationId xmlns:a16="http://schemas.microsoft.com/office/drawing/2014/main" id="{BC37A6F5-E9CC-496E-A64A-EFFC6DF6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STOWED</a:t>
            </a:r>
          </a:p>
        </p:txBody>
      </p:sp>
      <p:sp>
        <p:nvSpPr>
          <p:cNvPr id="7" name="sequence-copy-0">
            <a:extLst xmlns:a="http://schemas.openxmlformats.org/drawingml/2006/main">
              <a:ext uri="{FF2B5EF4-FFF2-40B4-BE49-F238E27FC236}">
                <a16:creationId xmlns:a16="http://schemas.microsoft.com/office/drawing/2014/main" id="{5162DAE7-99DA-4CCB-B68F-0E72404F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Arms retained; pack closed</a:t>
            </a:r>
          </a:p>
        </p:txBody>
      </p:sp>
      <p:sp>
        <p:nvSpPr>
          <p:cNvPr id="8" name="sequence-arrow-0">
            <a:extLst xmlns:a="http://schemas.openxmlformats.org/drawingml/2006/main">
              <a:ext uri="{FF2B5EF4-FFF2-40B4-BE49-F238E27FC236}">
                <a16:creationId xmlns:a16="http://schemas.microsoft.com/office/drawing/2014/main" id="{3FB4BF65-954B-4941-863C-7AC83CFB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528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BCC4"/>
                </a:solidFill>
              </a:defRPr>
            </a:pPr>
            <a:r>
              <a:rPr sz="210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9" name="sequence-panel-1">
            <a:extLst xmlns:a="http://schemas.openxmlformats.org/drawingml/2006/main">
              <a:ext uri="{FF2B5EF4-FFF2-40B4-BE49-F238E27FC236}">
                <a16:creationId xmlns:a16="http://schemas.microsoft.com/office/drawing/2014/main" id="{93349F79-C3D7-4E95-A00B-1259D18C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43150"/>
            <a:ext cx="2019300" cy="25146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equence-number-1">
            <a:extLst xmlns:a="http://schemas.openxmlformats.org/drawingml/2006/main">
              <a:ext uri="{FF2B5EF4-FFF2-40B4-BE49-F238E27FC236}">
                <a16:creationId xmlns:a16="http://schemas.microsoft.com/office/drawing/2014/main" id="{E12FDF34-E801-4BD3-81B0-A442985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24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1" name="sequence-label-1">
            <a:extLst xmlns:a="http://schemas.openxmlformats.org/drawingml/2006/main">
              <a:ext uri="{FF2B5EF4-FFF2-40B4-BE49-F238E27FC236}">
                <a16:creationId xmlns:a16="http://schemas.microsoft.com/office/drawing/2014/main" id="{328B8FF4-6557-4BCE-858A-E34F9E9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62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TRIGGER</a:t>
            </a:r>
          </a:p>
        </p:txBody>
      </p:sp>
      <p:sp>
        <p:nvSpPr>
          <p:cNvPr id="12" name="sequence-copy-1">
            <a:extLst xmlns:a="http://schemas.openxmlformats.org/drawingml/2006/main">
              <a:ext uri="{FF2B5EF4-FFF2-40B4-BE49-F238E27FC236}">
                <a16:creationId xmlns:a16="http://schemas.microsoft.com/office/drawing/2014/main" id="{197BA640-11FB-482C-B8D0-E7AA88A9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Water bobbin or manual pull</a:t>
            </a:r>
          </a:p>
        </p:txBody>
      </p:sp>
      <p:sp>
        <p:nvSpPr>
          <p:cNvPr id="13" name="sequence-arrow-1">
            <a:extLst xmlns:a="http://schemas.openxmlformats.org/drawingml/2006/main">
              <a:ext uri="{FF2B5EF4-FFF2-40B4-BE49-F238E27FC236}">
                <a16:creationId xmlns:a16="http://schemas.microsoft.com/office/drawing/2014/main" id="{A6B339B0-B2A4-43BD-A974-28081256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528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BCC4"/>
                </a:solidFill>
              </a:defRPr>
            </a:pPr>
            <a:r>
              <a:rPr sz="210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14" name="sequence-panel-2">
            <a:extLst xmlns:a="http://schemas.openxmlformats.org/drawingml/2006/main">
              <a:ext uri="{FF2B5EF4-FFF2-40B4-BE49-F238E27FC236}">
                <a16:creationId xmlns:a16="http://schemas.microsoft.com/office/drawing/2014/main" id="{12685B17-C80F-441E-8721-26C0D082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43150"/>
            <a:ext cx="2019300" cy="25146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equence-number-2">
            <a:extLst xmlns:a="http://schemas.openxmlformats.org/drawingml/2006/main">
              <a:ext uri="{FF2B5EF4-FFF2-40B4-BE49-F238E27FC236}">
                <a16:creationId xmlns:a16="http://schemas.microsoft.com/office/drawing/2014/main" id="{12F7E024-0E40-4122-A2C6-8FE0D37E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24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6" name="sequence-label-2">
            <a:extLst xmlns:a="http://schemas.openxmlformats.org/drawingml/2006/main">
              <a:ext uri="{FF2B5EF4-FFF2-40B4-BE49-F238E27FC236}">
                <a16:creationId xmlns:a16="http://schemas.microsoft.com/office/drawing/2014/main" id="{857B6674-F7A0-453C-904E-ADD37D03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62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DEPLOY</a:t>
            </a:r>
          </a:p>
        </p:txBody>
      </p:sp>
      <p:sp>
        <p:nvSpPr>
          <p:cNvPr id="17" name="sequence-copy-2">
            <a:extLst xmlns:a="http://schemas.openxmlformats.org/drawingml/2006/main">
              <a:ext uri="{FF2B5EF4-FFF2-40B4-BE49-F238E27FC236}">
                <a16:creationId xmlns:a16="http://schemas.microsoft.com/office/drawing/2014/main" id="{20B905CF-2FA1-4746-90A7-1C81C57B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1475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Crosshead moves; three arms rotate</a:t>
            </a:r>
          </a:p>
        </p:txBody>
      </p:sp>
      <p:sp>
        <p:nvSpPr>
          <p:cNvPr id="18" name="sequence-arrow-2">
            <a:extLst xmlns:a="http://schemas.openxmlformats.org/drawingml/2006/main">
              <a:ext uri="{FF2B5EF4-FFF2-40B4-BE49-F238E27FC236}">
                <a16:creationId xmlns:a16="http://schemas.microsoft.com/office/drawing/2014/main" id="{142ACB61-94A7-459B-BC79-5BF64156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BCC4"/>
                </a:solidFill>
              </a:defRPr>
            </a:pPr>
            <a:r>
              <a:rPr sz="210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19" name="sequence-panel-3">
            <a:extLst xmlns:a="http://schemas.openxmlformats.org/drawingml/2006/main">
              <a:ext uri="{FF2B5EF4-FFF2-40B4-BE49-F238E27FC236}">
                <a16:creationId xmlns:a16="http://schemas.microsoft.com/office/drawing/2014/main" id="{78DDD271-062A-45ED-80CB-5F335CE7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2019300" cy="25146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equence-number-3">
            <a:extLst xmlns:a="http://schemas.openxmlformats.org/drawingml/2006/main">
              <a:ext uri="{FF2B5EF4-FFF2-40B4-BE49-F238E27FC236}">
                <a16:creationId xmlns:a16="http://schemas.microsoft.com/office/drawing/2014/main" id="{2711C5D6-5636-425B-A4D6-6252A1CB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24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1" name="sequence-label-3">
            <a:extLst xmlns:a="http://schemas.openxmlformats.org/drawingml/2006/main">
              <a:ext uri="{FF2B5EF4-FFF2-40B4-BE49-F238E27FC236}">
                <a16:creationId xmlns:a16="http://schemas.microsoft.com/office/drawing/2014/main" id="{10E98130-863D-4ADD-BCA9-B270185D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OPEN</a:t>
            </a:r>
          </a:p>
        </p:txBody>
      </p:sp>
      <p:sp>
        <p:nvSpPr>
          <p:cNvPr id="22" name="sequence-copy-3">
            <a:extLst xmlns:a="http://schemas.openxmlformats.org/drawingml/2006/main">
              <a:ext uri="{FF2B5EF4-FFF2-40B4-BE49-F238E27FC236}">
                <a16:creationId xmlns:a16="http://schemas.microsoft.com/office/drawing/2014/main" id="{AD4AEE92-5C9F-4D22-BB04-49368C38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Cordura flaps peel; buoy unfolds</a:t>
            </a:r>
          </a:p>
        </p:txBody>
      </p:sp>
      <p:sp>
        <p:nvSpPr>
          <p:cNvPr id="23" name="sequence-arrow-3">
            <a:extLst xmlns:a="http://schemas.openxmlformats.org/drawingml/2006/main">
              <a:ext uri="{FF2B5EF4-FFF2-40B4-BE49-F238E27FC236}">
                <a16:creationId xmlns:a16="http://schemas.microsoft.com/office/drawing/2014/main" id="{A5375337-71A0-48B6-A6CC-5819C7AA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528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BCC4"/>
                </a:solidFill>
              </a:defRPr>
            </a:pPr>
            <a:r>
              <a:rPr sz="2100" b="1">
                <a:solidFill>
                  <a:srgbClr val="B8BCC4"/>
                </a:solidFill>
              </a:rPr>
              <a:t>&gt;</a:t>
            </a:r>
          </a:p>
        </p:txBody>
      </p:sp>
      <p:sp>
        <p:nvSpPr>
          <p:cNvPr id="24" name="sequence-panel-4">
            <a:extLst xmlns:a="http://schemas.openxmlformats.org/drawingml/2006/main">
              <a:ext uri="{FF2B5EF4-FFF2-40B4-BE49-F238E27FC236}">
                <a16:creationId xmlns:a16="http://schemas.microsoft.com/office/drawing/2014/main" id="{CB591AE3-A070-4AC8-B7E7-C25AFFDA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43150"/>
            <a:ext cx="2019300" cy="25146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5" name="sequence-number-4">
            <a:extLst xmlns:a="http://schemas.openxmlformats.org/drawingml/2006/main">
              <a:ext uri="{FF2B5EF4-FFF2-40B4-BE49-F238E27FC236}">
                <a16:creationId xmlns:a16="http://schemas.microsoft.com/office/drawing/2014/main" id="{3A089835-D0BB-479F-8FEF-F09BE3E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24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2318"/>
                </a:solidFill>
              </a:defRPr>
            </a:pPr>
            <a:r>
              <a:rPr sz="2400" b="1">
                <a:solidFill>
                  <a:srgbClr val="B42318"/>
                </a:solidFill>
              </a:rPr>
              <a:t>5</a:t>
            </a:r>
          </a:p>
        </p:txBody>
      </p:sp>
      <p:sp>
        <p:nvSpPr>
          <p:cNvPr id="26" name="sequence-label-4">
            <a:extLst xmlns:a="http://schemas.openxmlformats.org/drawingml/2006/main">
              <a:ext uri="{FF2B5EF4-FFF2-40B4-BE49-F238E27FC236}">
                <a16:creationId xmlns:a16="http://schemas.microsoft.com/office/drawing/2014/main" id="{50E25EB1-91C7-41FF-831C-FFFC5463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623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RECOVER</a:t>
            </a:r>
          </a:p>
        </p:txBody>
      </p:sp>
      <p:sp>
        <p:nvSpPr>
          <p:cNvPr id="27" name="sequence-copy-4">
            <a:extLst xmlns:a="http://schemas.openxmlformats.org/drawingml/2006/main">
              <a:ext uri="{FF2B5EF4-FFF2-40B4-BE49-F238E27FC236}">
                <a16:creationId xmlns:a16="http://schemas.microsoft.com/office/drawing/2014/main" id="{1C1489AB-0B4C-49E6-B0F7-F00026E3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1475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Buoy inflates; tether carries load</a:t>
            </a:r>
          </a:p>
        </p:txBody>
      </p:sp>
      <p:sp>
        <p:nvSpPr>
          <p:cNvPr id="28" name="sequence-failure-panel">
            <a:extLst xmlns:a="http://schemas.openxmlformats.org/drawingml/2006/main">
              <a:ext uri="{FF2B5EF4-FFF2-40B4-BE49-F238E27FC236}">
                <a16:creationId xmlns:a16="http://schemas.microsoft.com/office/drawing/2014/main" id="{530E3A57-3BD2-4F4E-B461-E9CE049C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67325"/>
            <a:ext cx="819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9" name="sequence-failure-text">
            <a:extLst xmlns:a="http://schemas.openxmlformats.org/drawingml/2006/main">
              <a:ext uri="{FF2B5EF4-FFF2-40B4-BE49-F238E27FC236}">
                <a16:creationId xmlns:a16="http://schemas.microsoft.com/office/drawing/2014/main" id="{9D931FC6-6DAA-4F41-85E7-BE19D6CD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62575"/>
            <a:ext cx="792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The chain stops at step 5: the selected cartridge cannot supply the modeled buoy volume.</a:t>
            </a:r>
          </a:p>
        </p:txBody>
      </p:sp>
      <p:sp>
        <p:nvSpPr>
          <p:cNvPr id="30" name="evidence-3">
            <a:extLst xmlns:a="http://schemas.openxmlformats.org/drawingml/2006/main">
              <a:ext uri="{FF2B5EF4-FFF2-40B4-BE49-F238E27FC236}">
                <a16:creationId xmlns:a16="http://schemas.microsoft.com/office/drawing/2014/main" id="{8339D43D-D59B-4C94-88C3-8A442638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Technical Analysis Report sections 2, 7-8; Pressure Topology</a:t>
            </a:r>
          </a:p>
        </p:txBody>
      </p:sp>
      <p:sp>
        <p:nvSpPr>
          <p:cNvPr id="31" name="page-3">
            <a:extLst xmlns:a="http://schemas.openxmlformats.org/drawingml/2006/main">
              <a:ext uri="{FF2B5EF4-FFF2-40B4-BE49-F238E27FC236}">
                <a16:creationId xmlns:a16="http://schemas.microsoft.com/office/drawing/2014/main" id="{6A8F12D5-49F0-4F2B-8252-AB23EA96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2834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4">
            <a:extLst xmlns:a="http://schemas.openxmlformats.org/drawingml/2006/main">
              <a:ext uri="{FF2B5EF4-FFF2-40B4-BE49-F238E27FC236}">
                <a16:creationId xmlns:a16="http://schemas.microsoft.com/office/drawing/2014/main" id="{4A2BD484-2C5E-4F2B-88FB-F812BF75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STINGRAY DIGITAL PRODUCT DEFINITION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9B0067E-D5C6-4AE0-91AE-81782FF1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Three subsystems share one continuous mechanical load path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930B4172-AF60-4ED9-A347-0BAC60D3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architecture-image-backing">
            <a:extLst xmlns:a="http://schemas.openxmlformats.org/drawingml/2006/main">
              <a:ext uri="{FF2B5EF4-FFF2-40B4-BE49-F238E27FC236}">
                <a16:creationId xmlns:a16="http://schemas.microsoft.com/office/drawing/2014/main" id="{EFA3FEBB-BE4B-4674-8C48-9312128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429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d3ce8938c40d3"/>
          <a:stretch xmlns:a="http://schemas.openxmlformats.org/drawingml/2006/main"/>
        </p:blipFill>
        <p:spPr>
          <a:xfrm xmlns:a="http://schemas.openxmlformats.org/drawingml/2006/main">
            <a:off x="400050" y="2360583"/>
            <a:ext cx="7429500" cy="2803585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architecture-label-0">
            <a:extLst xmlns:a="http://schemas.openxmlformats.org/drawingml/2006/main">
              <a:ext uri="{FF2B5EF4-FFF2-40B4-BE49-F238E27FC236}">
                <a16:creationId xmlns:a16="http://schemas.microsoft.com/office/drawing/2014/main" id="{E48A7FC5-F286-4CFB-A59F-15DE306B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FORWARD BODY</a:t>
            </a:r>
          </a:p>
        </p:txBody>
      </p:sp>
      <p:sp>
        <p:nvSpPr>
          <p:cNvPr id="7" name="architecture-copy-0">
            <a:extLst xmlns:a="http://schemas.openxmlformats.org/drawingml/2006/main">
              <a:ext uri="{FF2B5EF4-FFF2-40B4-BE49-F238E27FC236}">
                <a16:creationId xmlns:a16="http://schemas.microsoft.com/office/drawing/2014/main" id="{E89CE5C4-2764-4036-A705-A01D4FD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Penetrator and ballast establish the nose-side structural datum.</a:t>
            </a:r>
          </a:p>
        </p:txBody>
      </p:sp>
      <p:sp>
        <p:nvSpPr>
          <p:cNvPr id="8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9D07F9A7-87C2-4E57-A690-BC76AADA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ARM POWERTRAIN</a:t>
            </a:r>
          </a:p>
        </p:txBody>
      </p:sp>
      <p:sp>
        <p:nvSpPr>
          <p:cNvPr id="9" name="architecture-copy-1">
            <a:extLst xmlns:a="http://schemas.openxmlformats.org/drawingml/2006/main">
              <a:ext uri="{FF2B5EF4-FFF2-40B4-BE49-F238E27FC236}">
                <a16:creationId xmlns:a16="http://schemas.microsoft.com/office/drawing/2014/main" id="{2CB8746E-E2E8-40B6-AC03-713B94A1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671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Gas springs, dampers, common crosshead, links, and stops rotate three arms.</a:t>
            </a:r>
          </a:p>
        </p:txBody>
      </p:sp>
      <p:sp>
        <p:nvSpPr>
          <p:cNvPr id="10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FEB92584-56F0-4CF0-A999-A4E1F104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AFT RECOVERY</a:t>
            </a:r>
          </a:p>
        </p:txBody>
      </p:sp>
      <p:sp>
        <p:nvSpPr>
          <p:cNvPr id="11" name="architecture-copy-2">
            <a:extLst xmlns:a="http://schemas.openxmlformats.org/drawingml/2006/main">
              <a:ext uri="{FF2B5EF4-FFF2-40B4-BE49-F238E27FC236}">
                <a16:creationId xmlns:a16="http://schemas.microsoft.com/office/drawing/2014/main" id="{B90E1DE8-4F88-4E99-92BE-4C1F9BCE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96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Closed/open softgoods, inflator, buoy harness, hardpoint, and HMPE tether.</a:t>
            </a:r>
          </a:p>
        </p:txBody>
      </p:sp>
      <p:sp>
        <p:nvSpPr>
          <p:cNvPr id="12" name="evidence-4">
            <a:extLst xmlns:a="http://schemas.openxmlformats.org/drawingml/2006/main">
              <a:ext uri="{FF2B5EF4-FFF2-40B4-BE49-F238E27FC236}">
                <a16:creationId xmlns:a16="http://schemas.microsoft.com/office/drawing/2014/main" id="{18050F36-0260-4705-9B42-9DA0C69C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Component Design-Basis Matrix; Source Package 05 design report</a:t>
            </a:r>
          </a:p>
        </p:txBody>
      </p:sp>
      <p:sp>
        <p:nvSpPr>
          <p:cNvPr id="13" name="page-4">
            <a:extLst xmlns:a="http://schemas.openxmlformats.org/drawingml/2006/main">
              <a:ext uri="{FF2B5EF4-FFF2-40B4-BE49-F238E27FC236}">
                <a16:creationId xmlns:a16="http://schemas.microsoft.com/office/drawing/2014/main" id="{2629D248-E052-4CBC-9CE2-007A18C3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77665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5">
            <a:extLst xmlns:a="http://schemas.openxmlformats.org/drawingml/2006/main">
              <a:ext uri="{FF2B5EF4-FFF2-40B4-BE49-F238E27FC236}">
                <a16:creationId xmlns:a16="http://schemas.microsoft.com/office/drawing/2014/main" id="{A0DCA962-A01D-4E63-8BDC-2A6C26A1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STINGRAY DIGITAL PRODUCT DEFINITION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616DA17-7349-4CC6-98AD-EF432813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frozen digital assembly is complete enough to audit rigorously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C4728FA8-02C3-44C0-86CE-EECE224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metrics-intro">
            <a:extLst xmlns:a="http://schemas.openxmlformats.org/drawingml/2006/main">
              <a:ext uri="{FF2B5EF4-FFF2-40B4-BE49-F238E27FC236}">
                <a16:creationId xmlns:a16="http://schemas.microsoft.com/office/drawing/2014/main" id="{A9207891-33F7-4D1A-89F1-1244A18F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Every claim below is tied to the frozen AP242 masters and their authoring inventories.</a:t>
            </a:r>
          </a:p>
        </p:txBody>
      </p:sp>
      <p:sp>
        <p:nvSpPr>
          <p:cNvPr id="5" name="metric-occ-panel">
            <a:extLst xmlns:a="http://schemas.openxmlformats.org/drawingml/2006/main">
              <a:ext uri="{FF2B5EF4-FFF2-40B4-BE49-F238E27FC236}">
                <a16:creationId xmlns:a16="http://schemas.microsoft.com/office/drawing/2014/main" id="{FAD374D0-B88B-4123-AF0F-F524044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6479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E8F7EF"/>
            </a:solidFill>
            <a:prstDash val="solid"/>
          </a:ln>
        </p:spPr>
      </p:sp>
      <p:sp>
        <p:nvSpPr>
          <p:cNvPr id="6" name="metric-occ-value">
            <a:extLst xmlns:a="http://schemas.openxmlformats.org/drawingml/2006/main">
              <a:ext uri="{FF2B5EF4-FFF2-40B4-BE49-F238E27FC236}">
                <a16:creationId xmlns:a16="http://schemas.microsoft.com/office/drawing/2014/main" id="{12F473CA-8C68-42D6-9D73-C52BF372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7A4B"/>
                </a:solidFill>
              </a:defRPr>
            </a:pPr>
            <a:r>
              <a:rPr sz="3600" b="1">
                <a:solidFill>
                  <a:srgbClr val="137A4B"/>
                </a:solidFill>
              </a:rPr>
              <a:t>180</a:t>
            </a:r>
          </a:p>
        </p:txBody>
      </p:sp>
      <p:sp>
        <p:nvSpPr>
          <p:cNvPr id="7" name="metric-occ-label">
            <a:extLst xmlns:a="http://schemas.openxmlformats.org/drawingml/2006/main">
              <a:ext uri="{FF2B5EF4-FFF2-40B4-BE49-F238E27FC236}">
                <a16:creationId xmlns:a16="http://schemas.microsoft.com/office/drawing/2014/main" id="{AF4A1BB0-6591-4E3D-A783-F4C3E138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named occurrences in each endpoint state</a:t>
            </a:r>
          </a:p>
        </p:txBody>
      </p:sp>
      <p:sp>
        <p:nvSpPr>
          <p:cNvPr id="8" name="metric-parts-panel">
            <a:extLst xmlns:a="http://schemas.openxmlformats.org/drawingml/2006/main">
              <a:ext uri="{FF2B5EF4-FFF2-40B4-BE49-F238E27FC236}">
                <a16:creationId xmlns:a16="http://schemas.microsoft.com/office/drawing/2014/main" id="{3D42D2B4-279F-47D0-8ED2-B5A6FDEE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26479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9" name="metric-parts-value">
            <a:extLst xmlns:a="http://schemas.openxmlformats.org/drawingml/2006/main">
              <a:ext uri="{FF2B5EF4-FFF2-40B4-BE49-F238E27FC236}">
                <a16:creationId xmlns:a16="http://schemas.microsoft.com/office/drawing/2014/main" id="{6414175C-32C1-4467-A0FB-E4DE12FC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92</a:t>
            </a:r>
          </a:p>
        </p:txBody>
      </p:sp>
      <p:sp>
        <p:nvSpPr>
          <p:cNvPr id="10" name="metric-parts-label">
            <a:extLst xmlns:a="http://schemas.openxmlformats.org/drawingml/2006/main">
              <a:ext uri="{FF2B5EF4-FFF2-40B4-BE49-F238E27FC236}">
                <a16:creationId xmlns:a16="http://schemas.microsoft.com/office/drawing/2014/main" id="{B1CF7831-CCAC-4B6D-96B1-2F9A43D6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290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unique part definitions</a:t>
            </a:r>
          </a:p>
        </p:txBody>
      </p:sp>
      <p:sp>
        <p:nvSpPr>
          <p:cNvPr id="11" name="metric-angles-panel">
            <a:extLst xmlns:a="http://schemas.openxmlformats.org/drawingml/2006/main">
              <a:ext uri="{FF2B5EF4-FFF2-40B4-BE49-F238E27FC236}">
                <a16:creationId xmlns:a16="http://schemas.microsoft.com/office/drawing/2014/main" id="{053EB946-91C9-4DF8-9907-B480E0FE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26479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E8F7EF"/>
            </a:solidFill>
            <a:prstDash val="solid"/>
          </a:ln>
        </p:spPr>
      </p:sp>
      <p:sp>
        <p:nvSpPr>
          <p:cNvPr id="12" name="metric-angles-value">
            <a:extLst xmlns:a="http://schemas.openxmlformats.org/drawingml/2006/main">
              <a:ext uri="{FF2B5EF4-FFF2-40B4-BE49-F238E27FC236}">
                <a16:creationId xmlns:a16="http://schemas.microsoft.com/office/drawing/2014/main" id="{FB36B328-33E0-4347-A856-0C39D10A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7A4B"/>
                </a:solidFill>
              </a:defRPr>
            </a:pPr>
            <a:r>
              <a:rPr sz="3600" b="1">
                <a:solidFill>
                  <a:srgbClr val="137A4B"/>
                </a:solidFill>
              </a:rPr>
              <a:t>81</a:t>
            </a:r>
          </a:p>
        </p:txBody>
      </p:sp>
      <p:sp>
        <p:nvSpPr>
          <p:cNvPr id="13" name="metric-angles-label">
            <a:extLst xmlns:a="http://schemas.openxmlformats.org/drawingml/2006/main">
              <a:ext uri="{FF2B5EF4-FFF2-40B4-BE49-F238E27FC236}">
                <a16:creationId xmlns:a16="http://schemas.microsoft.com/office/drawing/2014/main" id="{FB28BC8B-DE65-4B48-BBDA-E6986F68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modeled arm positions from 0 to 80 degrees</a:t>
            </a:r>
          </a:p>
        </p:txBody>
      </p:sp>
      <p:sp>
        <p:nvSpPr>
          <p:cNvPr id="14" name="metric-pairs-panel">
            <a:extLst xmlns:a="http://schemas.openxmlformats.org/drawingml/2006/main">
              <a:ext uri="{FF2B5EF4-FFF2-40B4-BE49-F238E27FC236}">
                <a16:creationId xmlns:a16="http://schemas.microsoft.com/office/drawing/2014/main" id="{5A02158A-3370-41D5-A6AA-D668A54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7051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E8F7EF"/>
            </a:solidFill>
            <a:prstDash val="solid"/>
          </a:ln>
        </p:spPr>
      </p:sp>
      <p:sp>
        <p:nvSpPr>
          <p:cNvPr id="15" name="metric-pairs-value">
            <a:extLst xmlns:a="http://schemas.openxmlformats.org/drawingml/2006/main">
              <a:ext uri="{FF2B5EF4-FFF2-40B4-BE49-F238E27FC236}">
                <a16:creationId xmlns:a16="http://schemas.microsoft.com/office/drawing/2014/main" id="{199F47E3-2119-4980-B460-F7146768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67000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7A4B"/>
                </a:solidFill>
              </a:defRPr>
            </a:pPr>
            <a:r>
              <a:rPr sz="3600" b="1">
                <a:solidFill>
                  <a:srgbClr val="137A4B"/>
                </a:solidFill>
              </a:rPr>
              <a:t>697,167</a:t>
            </a:r>
          </a:p>
        </p:txBody>
      </p:sp>
      <p:sp>
        <p:nvSpPr>
          <p:cNvPr id="16" name="metric-pairs-label">
            <a:extLst xmlns:a="http://schemas.openxmlformats.org/drawingml/2006/main">
              <a:ext uri="{FF2B5EF4-FFF2-40B4-BE49-F238E27FC236}">
                <a16:creationId xmlns:a16="http://schemas.microsoft.com/office/drawing/2014/main" id="{2A07F39B-5F0B-4A4C-965C-40BFEA59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290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full-motion exact pair rows</a:t>
            </a:r>
          </a:p>
        </p:txBody>
      </p:sp>
      <p:sp>
        <p:nvSpPr>
          <p:cNvPr id="17" name="metrics-result-panel">
            <a:extLst xmlns:a="http://schemas.openxmlformats.org/drawingml/2006/main">
              <a:ext uri="{FF2B5EF4-FFF2-40B4-BE49-F238E27FC236}">
                <a16:creationId xmlns:a16="http://schemas.microsoft.com/office/drawing/2014/main" id="{EC9553BB-5405-4C2B-BAE7-911389BD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95825"/>
            <a:ext cx="9791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137A4B"/>
            </a:solidFill>
            <a:prstDash val="solid"/>
          </a:ln>
        </p:spPr>
      </p:sp>
      <p:sp>
        <p:nvSpPr>
          <p:cNvPr id="18" name="metrics-result-text">
            <a:extLst xmlns:a="http://schemas.openxmlformats.org/drawingml/2006/main">
              <a:ext uri="{FF2B5EF4-FFF2-40B4-BE49-F238E27FC236}">
                <a16:creationId xmlns:a16="http://schemas.microsoft.com/office/drawing/2014/main" id="{65975C51-8C1B-4CD0-BC37-D87D603B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910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7A4B"/>
                </a:solidFill>
              </a:defRPr>
            </a:pPr>
            <a:r>
              <a:rPr sz="1200" b="1">
                <a:solidFill>
                  <a:srgbClr val="137A4B"/>
                </a:solidFill>
              </a:rPr>
              <a:t>ZERO unauthorized rigid overlaps | ZERO blocked Booleans | ZERO track/fit-register errors</a:t>
            </a:r>
          </a:p>
        </p:txBody>
      </p:sp>
      <p:sp>
        <p:nvSpPr>
          <p:cNvPr id="19" name="metrics-mass">
            <a:extLst xmlns:a="http://schemas.openxmlformats.org/drawingml/2006/main">
              <a:ext uri="{FF2B5EF4-FFF2-40B4-BE49-F238E27FC236}">
                <a16:creationId xmlns:a16="http://schemas.microsoft.com/office/drawing/2014/main" id="{0B4B21AA-637D-4117-A6DE-F373540E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Mass: 10.583 kg | reserve to 18.14 kg limit: 7.557 kg | rigid length: 1,675.4 mm</a:t>
            </a:r>
          </a:p>
        </p:txBody>
      </p:sp>
      <p:sp>
        <p:nvSpPr>
          <p:cNvPr id="20" name="evidence-5">
            <a:extLst xmlns:a="http://schemas.openxmlformats.org/drawingml/2006/main">
              <a:ext uri="{FF2B5EF4-FFF2-40B4-BE49-F238E27FC236}">
                <a16:creationId xmlns:a16="http://schemas.microsoft.com/office/drawing/2014/main" id="{A1E763A3-F1E8-41C5-8CBC-B7DB315B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Endpoint Validation Summary; Full Motion Exact Boolean Summary; Mass/CG/Inertia Report</a:t>
            </a:r>
          </a:p>
        </p:txBody>
      </p:sp>
      <p:sp>
        <p:nvSpPr>
          <p:cNvPr id="21" name="page-5">
            <a:extLst xmlns:a="http://schemas.openxmlformats.org/drawingml/2006/main">
              <a:ext uri="{FF2B5EF4-FFF2-40B4-BE49-F238E27FC236}">
                <a16:creationId xmlns:a16="http://schemas.microsoft.com/office/drawing/2014/main" id="{F5F8FC69-0441-4FE1-B1EB-A2DFB9AB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1422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6">
            <a:extLst xmlns:a="http://schemas.openxmlformats.org/drawingml/2006/main">
              <a:ext uri="{FF2B5EF4-FFF2-40B4-BE49-F238E27FC236}">
                <a16:creationId xmlns:a16="http://schemas.microsoft.com/office/drawing/2014/main" id="{F0D4C416-6FBF-43F4-9C2D-5684E53B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STINGRAY DIGITAL PRODUCT DEFINITION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251F629-E1D7-4EB9-A2D5-1F083641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open DEPLOYED pack is controlling intent, not a cleanup defect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5D74885E-A873-4BC3-AAE8-0ABABBAC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tate-closed-backing">
            <a:extLst xmlns:a="http://schemas.openxmlformats.org/drawingml/2006/main">
              <a:ext uri="{FF2B5EF4-FFF2-40B4-BE49-F238E27FC236}">
                <a16:creationId xmlns:a16="http://schemas.microsoft.com/office/drawing/2014/main" id="{3C4B67EC-9E41-44E5-9BE0-B219ADEE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f246ead0240ef"/>
          <a:stretch xmlns:a="http://schemas.openxmlformats.org/drawingml/2006/main"/>
        </p:blipFill>
        <p:spPr>
          <a:xfrm xmlns:a="http://schemas.openxmlformats.org/drawingml/2006/main">
            <a:off x="400050" y="1952384"/>
            <a:ext cx="5143500" cy="3658081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state-open-backing">
            <a:extLst xmlns:a="http://schemas.openxmlformats.org/drawingml/2006/main">
              <a:ext uri="{FF2B5EF4-FFF2-40B4-BE49-F238E27FC236}">
                <a16:creationId xmlns:a16="http://schemas.microsoft.com/office/drawing/2014/main" id="{BF2BD8E9-E293-4FAA-A05F-BF7D20C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3355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a8cd86f244fb6"/>
          <a:stretch xmlns:a="http://schemas.openxmlformats.org/drawingml/2006/main"/>
        </p:blipFill>
        <p:spPr>
          <a:xfrm xmlns:a="http://schemas.openxmlformats.org/drawingml/2006/main">
            <a:off x="6648450" y="2085325"/>
            <a:ext cx="5143500" cy="3392201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8" name="state-left">
            <a:extLst xmlns:a="http://schemas.openxmlformats.org/drawingml/2006/main">
              <a:ext uri="{FF2B5EF4-FFF2-40B4-BE49-F238E27FC236}">
                <a16:creationId xmlns:a16="http://schemas.microsoft.com/office/drawing/2014/main" id="{91F6A2E7-AC1E-4D02-90BA-E86956F4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STOWED - separate panels form the closed pack.</a:t>
            </a:r>
          </a:p>
        </p:txBody>
      </p:sp>
      <p:sp>
        <p:nvSpPr>
          <p:cNvPr id="9" name="state-right">
            <a:extLst xmlns:a="http://schemas.openxmlformats.org/drawingml/2006/main">
              <a:ext uri="{FF2B5EF4-FFF2-40B4-BE49-F238E27FC236}">
                <a16:creationId xmlns:a16="http://schemas.microsoft.com/office/drawing/2014/main" id="{126BCB17-C9DB-44A3-9A04-3970094B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245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DEPLOYED - flaps remain attached; tether bypasses Cordura and hook-and-loop.</a:t>
            </a:r>
          </a:p>
        </p:txBody>
      </p:sp>
      <p:sp>
        <p:nvSpPr>
          <p:cNvPr id="10" name="evidence-6">
            <a:extLst xmlns:a="http://schemas.openxmlformats.org/drawingml/2006/main">
              <a:ext uri="{FF2B5EF4-FFF2-40B4-BE49-F238E27FC236}">
                <a16:creationId xmlns:a16="http://schemas.microsoft.com/office/drawing/2014/main" id="{4AF8D810-2810-43D5-B2DA-0E3F6C15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Screenshot Closure Report images 10-11; CAD views 09 and 12</a:t>
            </a:r>
          </a:p>
        </p:txBody>
      </p:sp>
      <p:sp>
        <p:nvSpPr>
          <p:cNvPr id="11" name="page-6">
            <a:extLst xmlns:a="http://schemas.openxmlformats.org/drawingml/2006/main">
              <a:ext uri="{FF2B5EF4-FFF2-40B4-BE49-F238E27FC236}">
                <a16:creationId xmlns:a16="http://schemas.microsoft.com/office/drawing/2014/main" id="{7CF94AA2-C3E2-4A00-9DF9-FE19952E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062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7">
            <a:extLst xmlns:a="http://schemas.openxmlformats.org/drawingml/2006/main">
              <a:ext uri="{FF2B5EF4-FFF2-40B4-BE49-F238E27FC236}">
                <a16:creationId xmlns:a16="http://schemas.microsoft.com/office/drawing/2014/main" id="{45575674-A981-4025-8CBE-9E751E45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STINGRAY DIGITAL PRODUCT DEFINITION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5EC53D0-40F3-49BB-B659-738E55B4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Digital mechanism motion passed every modeled position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33D7D0E5-20ED-4276-A4E1-6A2DA542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motion-image-backing">
            <a:extLst xmlns:a="http://schemas.openxmlformats.org/drawingml/2006/main">
              <a:ext uri="{FF2B5EF4-FFF2-40B4-BE49-F238E27FC236}">
                <a16:creationId xmlns:a16="http://schemas.microsoft.com/office/drawing/2014/main" id="{E0A208A7-EDF5-45FA-BE61-A7DF23D1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60960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9d868dc874bfd"/>
          <a:stretch xmlns:a="http://schemas.openxmlformats.org/drawingml/2006/main"/>
        </p:blipFill>
        <p:spPr>
          <a:xfrm xmlns:a="http://schemas.openxmlformats.org/drawingml/2006/main">
            <a:off x="400050" y="1743507"/>
            <a:ext cx="6096000" cy="4152036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6" name="motion-angle-panel">
            <a:extLst xmlns:a="http://schemas.openxmlformats.org/drawingml/2006/main">
              <a:ext uri="{FF2B5EF4-FFF2-40B4-BE49-F238E27FC236}">
                <a16:creationId xmlns:a16="http://schemas.microsoft.com/office/drawing/2014/main" id="{6A8EBD38-4379-4A18-8FFD-E3E270C6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2190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E8F7EF"/>
            </a:solidFill>
            <a:prstDash val="solid"/>
          </a:ln>
        </p:spPr>
      </p:sp>
      <p:sp>
        <p:nvSpPr>
          <p:cNvPr id="7" name="motion-angle-value">
            <a:extLst xmlns:a="http://schemas.openxmlformats.org/drawingml/2006/main">
              <a:ext uri="{FF2B5EF4-FFF2-40B4-BE49-F238E27FC236}">
                <a16:creationId xmlns:a16="http://schemas.microsoft.com/office/drawing/2014/main" id="{1F3AFF4B-275A-461B-9A9D-067BCA31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764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7A4B"/>
                </a:solidFill>
              </a:defRPr>
            </a:pPr>
            <a:r>
              <a:rPr sz="3600" b="1">
                <a:solidFill>
                  <a:srgbClr val="137A4B"/>
                </a:solidFill>
              </a:rPr>
              <a:t>0-80°</a:t>
            </a:r>
          </a:p>
        </p:txBody>
      </p:sp>
      <p:sp>
        <p:nvSpPr>
          <p:cNvPr id="8" name="motion-angle-label">
            <a:extLst xmlns:a="http://schemas.openxmlformats.org/drawingml/2006/main">
              <a:ext uri="{FF2B5EF4-FFF2-40B4-BE49-F238E27FC236}">
                <a16:creationId xmlns:a16="http://schemas.microsoft.com/office/drawing/2014/main" id="{260AA5AD-9618-4333-82D1-1BE3D47F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8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one-degree audit coverage</a:t>
            </a:r>
          </a:p>
        </p:txBody>
      </p:sp>
      <p:sp>
        <p:nvSpPr>
          <p:cNvPr id="9" name="motion-travel-panel">
            <a:extLst xmlns:a="http://schemas.openxmlformats.org/drawingml/2006/main">
              <a:ext uri="{FF2B5EF4-FFF2-40B4-BE49-F238E27FC236}">
                <a16:creationId xmlns:a16="http://schemas.microsoft.com/office/drawing/2014/main" id="{1F10459A-609F-4254-BA6C-41D5C280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4955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E8F7EF"/>
            </a:solidFill>
            <a:prstDash val="solid"/>
          </a:ln>
        </p:spPr>
      </p:sp>
      <p:sp>
        <p:nvSpPr>
          <p:cNvPr id="10" name="motion-travel-value">
            <a:extLst xmlns:a="http://schemas.openxmlformats.org/drawingml/2006/main">
              <a:ext uri="{FF2B5EF4-FFF2-40B4-BE49-F238E27FC236}">
                <a16:creationId xmlns:a16="http://schemas.microsoft.com/office/drawing/2014/main" id="{4EFA8A06-0619-42EA-AACF-CD535A6A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7645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7A4B"/>
                </a:solidFill>
              </a:defRPr>
            </a:pPr>
            <a:r>
              <a:rPr sz="3600" b="1">
                <a:solidFill>
                  <a:srgbClr val="137A4B"/>
                </a:solidFill>
              </a:rPr>
              <a:t>15.055</a:t>
            </a:r>
          </a:p>
        </p:txBody>
      </p:sp>
      <p:sp>
        <p:nvSpPr>
          <p:cNvPr id="11" name="motion-travel-label">
            <a:extLst xmlns:a="http://schemas.openxmlformats.org/drawingml/2006/main">
              <a:ext uri="{FF2B5EF4-FFF2-40B4-BE49-F238E27FC236}">
                <a16:creationId xmlns:a16="http://schemas.microsoft.com/office/drawing/2014/main" id="{0266CA64-AE63-4592-9DB5-AAF90BC1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384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mm crosshead travel</a:t>
            </a:r>
          </a:p>
        </p:txBody>
      </p:sp>
      <p:sp>
        <p:nvSpPr>
          <p:cNvPr id="12" name="motion-proof">
            <a:extLst xmlns:a="http://schemas.openxmlformats.org/drawingml/2006/main">
              <a:ext uri="{FF2B5EF4-FFF2-40B4-BE49-F238E27FC236}">
                <a16:creationId xmlns:a16="http://schemas.microsoft.com/office/drawing/2014/main" id="{58EC818E-99BB-41D8-90D5-7932EC57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57625"/>
            <a:ext cx="4476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- 43,035 rows in the five-angle gate</a:t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- 697,167 rows in the full sweep</a:t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- closure residual: 2.49e-14 mm</a:t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- no invalid or unclassified rigid interference</a:t>
            </a:r>
          </a:p>
        </p:txBody>
      </p:sp>
      <p:sp>
        <p:nvSpPr>
          <p:cNvPr id="13" name="motion-limit-panel">
            <a:extLst xmlns:a="http://schemas.openxmlformats.org/drawingml/2006/main">
              <a:ext uri="{FF2B5EF4-FFF2-40B4-BE49-F238E27FC236}">
                <a16:creationId xmlns:a16="http://schemas.microsoft.com/office/drawing/2014/main" id="{35E408B5-C434-48A3-B4C8-A40B5B22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67350"/>
            <a:ext cx="4895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motion-limit-text">
            <a:extLst xmlns:a="http://schemas.openxmlformats.org/drawingml/2006/main">
              <a:ext uri="{FF2B5EF4-FFF2-40B4-BE49-F238E27FC236}">
                <a16:creationId xmlns:a16="http://schemas.microsoft.com/office/drawing/2014/main" id="{D92E25A0-F893-4F11-9F94-140450EF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8165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Digital PASS does not prove deployment time, loads,</a:t>
            </a:r>
          </a:p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fatigue, or physical lock capacity.</a:t>
            </a:r>
          </a:p>
        </p:txBody>
      </p:sp>
      <p:sp>
        <p:nvSpPr>
          <p:cNvPr id="15" name="evidence-7">
            <a:extLst xmlns:a="http://schemas.openxmlformats.org/drawingml/2006/main">
              <a:ext uri="{FF2B5EF4-FFF2-40B4-BE49-F238E27FC236}">
                <a16:creationId xmlns:a16="http://schemas.microsoft.com/office/drawing/2014/main" id="{84FBE78F-A0A0-4657-A601-97875B9E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Technical Analysis Report section 5; validation/full_motion</a:t>
            </a:r>
          </a:p>
        </p:txBody>
      </p:sp>
      <p:sp>
        <p:nvSpPr>
          <p:cNvPr id="16" name="page-7">
            <a:extLst xmlns:a="http://schemas.openxmlformats.org/drawingml/2006/main">
              <a:ext uri="{FF2B5EF4-FFF2-40B4-BE49-F238E27FC236}">
                <a16:creationId xmlns:a16="http://schemas.microsoft.com/office/drawing/2014/main" id="{DDA8C90E-68AF-48C0-B85E-9968C5A9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04768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8">
            <a:extLst xmlns:a="http://schemas.openxmlformats.org/drawingml/2006/main">
              <a:ext uri="{FF2B5EF4-FFF2-40B4-BE49-F238E27FC236}">
                <a16:creationId xmlns:a16="http://schemas.microsoft.com/office/drawing/2014/main" id="{4A078B5C-7F42-4455-B6F5-26EBBDDE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CONTROLLING RELEASE FAILURE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57993A9-823B-435A-A6AB-F50F577F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selected 12 g cartridge can supply only about 11% of the modeled buoy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F4FDD893-5C8C-4ECF-B3E0-EBAF375B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gas-explain">
            <a:extLst xmlns:a="http://schemas.openxmlformats.org/drawingml/2006/main">
              <a:ext uri="{FF2B5EF4-FFF2-40B4-BE49-F238E27FC236}">
                <a16:creationId xmlns:a16="http://schemas.microsoft.com/office/drawing/2014/main" id="{95F311D6-9C70-40BD-9CE6-7BADA0A1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An optimistic ideal-gas calculation already proves the mismatch. Real delivery would be lower because of cooling, residual gas, pressure drop, leakage, and required buoy pressure.</a:t>
            </a:r>
          </a:p>
        </p:txBody>
      </p:sp>
      <p:sp>
        <p:nvSpPr>
          <p:cNvPr id="5" name="gas-label-a">
            <a:extLst xmlns:a="http://schemas.openxmlformats.org/drawingml/2006/main">
              <a:ext uri="{FF2B5EF4-FFF2-40B4-BE49-F238E27FC236}">
                <a16:creationId xmlns:a16="http://schemas.microsoft.com/office/drawing/2014/main" id="{0289C202-528A-4797-9699-0F50B2C4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Selected cartridge at 20 C</a:t>
            </a:r>
          </a:p>
        </p:txBody>
      </p:sp>
      <p:sp>
        <p:nvSpPr>
          <p:cNvPr id="6" name="gas-bar-a-bg">
            <a:extLst xmlns:a="http://schemas.openxmlformats.org/drawingml/2006/main">
              <a:ext uri="{FF2B5EF4-FFF2-40B4-BE49-F238E27FC236}">
                <a16:creationId xmlns:a16="http://schemas.microsoft.com/office/drawing/2014/main" id="{94319761-6332-49BF-92BF-EABD77C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971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gas-bar-a">
            <a:extLst xmlns:a="http://schemas.openxmlformats.org/drawingml/2006/main">
              <a:ext uri="{FF2B5EF4-FFF2-40B4-BE49-F238E27FC236}">
                <a16:creationId xmlns:a16="http://schemas.microsoft.com/office/drawing/2014/main" id="{67B16BB1-E679-4D39-B776-1C49D4FC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62038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8" name="gas-value-a">
            <a:extLst xmlns:a="http://schemas.openxmlformats.org/drawingml/2006/main">
              <a:ext uri="{FF2B5EF4-FFF2-40B4-BE49-F238E27FC236}">
                <a16:creationId xmlns:a16="http://schemas.microsoft.com/office/drawing/2014/main" id="{261E3297-9E2E-4982-B9F4-D05E55C7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71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2318"/>
                </a:solidFill>
              </a:defRPr>
            </a:pPr>
            <a:r>
              <a:rPr sz="1875" b="1">
                <a:solidFill>
                  <a:srgbClr val="B42318"/>
                </a:solidFill>
              </a:rPr>
              <a:t>6.56 L</a:t>
            </a:r>
          </a:p>
        </p:txBody>
      </p:sp>
      <p:sp>
        <p:nvSpPr>
          <p:cNvPr id="9" name="gas-label-b">
            <a:extLst xmlns:a="http://schemas.openxmlformats.org/drawingml/2006/main">
              <a:ext uri="{FF2B5EF4-FFF2-40B4-BE49-F238E27FC236}">
                <a16:creationId xmlns:a16="http://schemas.microsoft.com/office/drawing/2014/main" id="{221653B8-0496-47C5-80D7-1567FB1E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Modeled buoy nominal volume</a:t>
            </a:r>
          </a:p>
        </p:txBody>
      </p:sp>
      <p:sp>
        <p:nvSpPr>
          <p:cNvPr id="10" name="gas-bar-b">
            <a:extLst xmlns:a="http://schemas.openxmlformats.org/drawingml/2006/main">
              <a:ext uri="{FF2B5EF4-FFF2-40B4-BE49-F238E27FC236}">
                <a16:creationId xmlns:a16="http://schemas.microsoft.com/office/drawing/2014/main" id="{F37DB5F7-8496-47EB-933A-811F550C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971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gas-value-b">
            <a:extLst xmlns:a="http://schemas.openxmlformats.org/drawingml/2006/main">
              <a:ext uri="{FF2B5EF4-FFF2-40B4-BE49-F238E27FC236}">
                <a16:creationId xmlns:a16="http://schemas.microsoft.com/office/drawing/2014/main" id="{95CDC8CC-2B6E-4BF9-A647-1A24339D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815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60.0 L</a:t>
            </a:r>
          </a:p>
        </p:txBody>
      </p:sp>
      <p:sp>
        <p:nvSpPr>
          <p:cNvPr id="12" name="gas-fail-panel">
            <a:extLst xmlns:a="http://schemas.openxmlformats.org/drawingml/2006/main">
              <a:ext uri="{FF2B5EF4-FFF2-40B4-BE49-F238E27FC236}">
                <a16:creationId xmlns:a16="http://schemas.microsoft.com/office/drawing/2014/main" id="{DCFB9280-65A2-49B1-A0FD-6953CB85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57850"/>
            <a:ext cx="8610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3" name="gas-fail-text">
            <a:extLst xmlns:a="http://schemas.openxmlformats.org/drawingml/2006/main">
              <a:ext uri="{FF2B5EF4-FFF2-40B4-BE49-F238E27FC236}">
                <a16:creationId xmlns:a16="http://schemas.microsoft.com/office/drawing/2014/main" id="{EAF9F7E4-3269-4959-8226-3581488A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53100"/>
            <a:ext cx="834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FAIL: ideal lower-bound CO2 mass is 109.8 g, before real losses and overpressure.</a:t>
            </a:r>
          </a:p>
        </p:txBody>
      </p:sp>
      <p:sp>
        <p:nvSpPr>
          <p:cNvPr id="14" name="evidence-8">
            <a:extLst xmlns:a="http://schemas.openxmlformats.org/drawingml/2006/main">
              <a:ext uri="{FF2B5EF4-FFF2-40B4-BE49-F238E27FC236}">
                <a16:creationId xmlns:a16="http://schemas.microsoft.com/office/drawing/2014/main" id="{3729E0B3-4A54-449D-8020-861A36FF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Technical Analysis Report section 2; Stored Gas Independent Calculation</a:t>
            </a:r>
          </a:p>
        </p:txBody>
      </p:sp>
      <p:sp>
        <p:nvSpPr>
          <p:cNvPr id="15" name="page-8">
            <a:extLst xmlns:a="http://schemas.openxmlformats.org/drawingml/2006/main">
              <a:ext uri="{FF2B5EF4-FFF2-40B4-BE49-F238E27FC236}">
                <a16:creationId xmlns:a16="http://schemas.microsoft.com/office/drawing/2014/main" id="{3CBD992B-82C9-4470-BB75-CCC73720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00235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9">
            <a:extLst xmlns:a="http://schemas.openxmlformats.org/drawingml/2006/main">
              <a:ext uri="{FF2B5EF4-FFF2-40B4-BE49-F238E27FC236}">
                <a16:creationId xmlns:a16="http://schemas.microsoft.com/office/drawing/2014/main" id="{55F7E094-648E-45DF-BD37-64FB182F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STINGRAY DIGITAL PRODUCT DEFINITION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78008CC1-FA84-4395-9DB4-3FE4948C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pressure path is compact, but its exact installed interfaces are unresolved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B52E426A-D547-43D9-AC83-06A094B6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ressure-image-backing">
            <a:extLst xmlns:a="http://schemas.openxmlformats.org/drawingml/2006/main">
              <a:ext uri="{FF2B5EF4-FFF2-40B4-BE49-F238E27FC236}">
                <a16:creationId xmlns:a16="http://schemas.microsoft.com/office/drawing/2014/main" id="{C91769AE-0B17-48B5-9B80-8F696E2A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8102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3c42cc399422e"/>
          <a:stretch xmlns:a="http://schemas.openxmlformats.org/drawingml/2006/main"/>
        </p:blipFill>
        <p:spPr>
          <a:xfrm xmlns:a="http://schemas.openxmlformats.org/drawingml/2006/main">
            <a:off x="400050" y="1891795"/>
            <a:ext cx="5810250" cy="3931661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pressure-status-0-panel">
            <a:extLst xmlns:a="http://schemas.openxmlformats.org/drawingml/2006/main">
              <a:ext uri="{FF2B5EF4-FFF2-40B4-BE49-F238E27FC236}">
                <a16:creationId xmlns:a16="http://schemas.microsoft.com/office/drawing/2014/main" id="{ABF27A95-13EC-427F-B20F-8AA050B1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09750"/>
            <a:ext cx="1066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137A4B"/>
            </a:solidFill>
            <a:prstDash val="solid"/>
          </a:ln>
        </p:spPr>
      </p:sp>
      <p:sp>
        <p:nvSpPr>
          <p:cNvPr id="7" name="pressure-status-0-text">
            <a:extLst xmlns:a="http://schemas.openxmlformats.org/drawingml/2006/main">
              <a:ext uri="{FF2B5EF4-FFF2-40B4-BE49-F238E27FC236}">
                <a16:creationId xmlns:a16="http://schemas.microsoft.com/office/drawing/2014/main" id="{E2C3BE8C-CD92-4DCF-9B88-FDD5EEFA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050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7A4B"/>
                </a:solidFill>
              </a:defRPr>
            </a:pPr>
            <a:r>
              <a:rPr sz="1200" b="1">
                <a:solidFill>
                  <a:srgbClr val="137A4B"/>
                </a:solidFill>
              </a:rPr>
              <a:t>KNOWN</a:t>
            </a:r>
          </a:p>
        </p:txBody>
      </p:sp>
      <p:sp>
        <p:nvSpPr>
          <p:cNvPr id="8" name="pressure-copy-0">
            <a:extLst xmlns:a="http://schemas.openxmlformats.org/drawingml/2006/main">
              <a:ext uri="{FF2B5EF4-FFF2-40B4-BE49-F238E27FC236}">
                <a16:creationId xmlns:a16="http://schemas.microsoft.com/office/drawing/2014/main" id="{09732C21-C2CE-421C-AF38-7BFC128A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85950"/>
            <a:ext cx="3676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Leland 81121: 12 g CO2, 3/8-24 puncture cartridge</a:t>
            </a:r>
          </a:p>
        </p:txBody>
      </p:sp>
      <p:sp>
        <p:nvSpPr>
          <p:cNvPr id="9" name="pressure-status-1-panel">
            <a:extLst xmlns:a="http://schemas.openxmlformats.org/drawingml/2006/main">
              <a:ext uri="{FF2B5EF4-FFF2-40B4-BE49-F238E27FC236}">
                <a16:creationId xmlns:a16="http://schemas.microsoft.com/office/drawing/2014/main" id="{1369226B-F670-4088-94CE-B3DCE861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0350"/>
            <a:ext cx="1066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137A4B"/>
            </a:solidFill>
            <a:prstDash val="solid"/>
          </a:ln>
        </p:spPr>
      </p:sp>
      <p:sp>
        <p:nvSpPr>
          <p:cNvPr id="10" name="pressure-status-1-text">
            <a:extLst xmlns:a="http://schemas.openxmlformats.org/drawingml/2006/main">
              <a:ext uri="{FF2B5EF4-FFF2-40B4-BE49-F238E27FC236}">
                <a16:creationId xmlns:a16="http://schemas.microsoft.com/office/drawing/2014/main" id="{0A54CEB1-F8A7-4F7C-9CB7-7002A8F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7A4B"/>
                </a:solidFill>
              </a:defRPr>
            </a:pPr>
            <a:r>
              <a:rPr sz="1200" b="1">
                <a:solidFill>
                  <a:srgbClr val="137A4B"/>
                </a:solidFill>
              </a:rPr>
              <a:t>KNOWN</a:t>
            </a:r>
          </a:p>
        </p:txBody>
      </p:sp>
      <p:sp>
        <p:nvSpPr>
          <p:cNvPr id="11" name="pressure-copy-1">
            <a:extLst xmlns:a="http://schemas.openxmlformats.org/drawingml/2006/main">
              <a:ext uri="{FF2B5EF4-FFF2-40B4-BE49-F238E27FC236}">
                <a16:creationId xmlns:a16="http://schemas.microsoft.com/office/drawing/2014/main" id="{5E89CE6D-DEE3-44F1-9E46-DBE27299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3676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Hydro 1F family uses V80040 water-sensitive bobbin</a:t>
            </a:r>
          </a:p>
        </p:txBody>
      </p:sp>
      <p:sp>
        <p:nvSpPr>
          <p:cNvPr id="12" name="pressure-status-2-panel">
            <a:extLst xmlns:a="http://schemas.openxmlformats.org/drawingml/2006/main">
              <a:ext uri="{FF2B5EF4-FFF2-40B4-BE49-F238E27FC236}">
                <a16:creationId xmlns:a16="http://schemas.microsoft.com/office/drawing/2014/main" id="{4FC58E5B-B652-4DBD-985F-7AA47C52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90950"/>
            <a:ext cx="1066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3" name="pressure-status-2-text">
            <a:extLst xmlns:a="http://schemas.openxmlformats.org/drawingml/2006/main">
              <a:ext uri="{FF2B5EF4-FFF2-40B4-BE49-F238E27FC236}">
                <a16:creationId xmlns:a16="http://schemas.microsoft.com/office/drawing/2014/main" id="{E5BFD9CC-5204-436C-9FEC-DC343DA1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862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OPEN</a:t>
            </a:r>
          </a:p>
        </p:txBody>
      </p:sp>
      <p:sp>
        <p:nvSpPr>
          <p:cNvPr id="14" name="pressure-copy-2">
            <a:extLst xmlns:a="http://schemas.openxmlformats.org/drawingml/2006/main">
              <a:ext uri="{FF2B5EF4-FFF2-40B4-BE49-F238E27FC236}">
                <a16:creationId xmlns:a16="http://schemas.microsoft.com/office/drawing/2014/main" id="{EF411F12-633D-4056-821C-4F270E1F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676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Exact Hydro suffix and matching thread configuration</a:t>
            </a:r>
          </a:p>
        </p:txBody>
      </p:sp>
      <p:sp>
        <p:nvSpPr>
          <p:cNvPr id="15" name="pressure-status-3-panel">
            <a:extLst xmlns:a="http://schemas.openxmlformats.org/drawingml/2006/main">
              <a:ext uri="{FF2B5EF4-FFF2-40B4-BE49-F238E27FC236}">
                <a16:creationId xmlns:a16="http://schemas.microsoft.com/office/drawing/2014/main" id="{FA38F8F8-96FE-4543-B7B1-1CFBFD49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1066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6" name="pressure-status-3-text">
            <a:extLst xmlns:a="http://schemas.openxmlformats.org/drawingml/2006/main">
              <a:ext uri="{FF2B5EF4-FFF2-40B4-BE49-F238E27FC236}">
                <a16:creationId xmlns:a16="http://schemas.microsoft.com/office/drawing/2014/main" id="{CFE2788F-511A-42AE-A0F2-07313749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768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OPEN</a:t>
            </a:r>
          </a:p>
        </p:txBody>
      </p:sp>
      <p:sp>
        <p:nvSpPr>
          <p:cNvPr id="17" name="pressure-copy-3">
            <a:extLst xmlns:a="http://schemas.openxmlformats.org/drawingml/2006/main">
              <a:ext uri="{FF2B5EF4-FFF2-40B4-BE49-F238E27FC236}">
                <a16:creationId xmlns:a16="http://schemas.microsoft.com/office/drawing/2014/main" id="{28C15574-C2A4-4AD0-ABAF-5405824D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3676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Vendor-exact geometry, flow curve, patch interface, leak result</a:t>
            </a:r>
          </a:p>
        </p:txBody>
      </p:sp>
      <p:sp>
        <p:nvSpPr>
          <p:cNvPr id="18" name="pressure-topology">
            <a:extLst xmlns:a="http://schemas.openxmlformats.org/drawingml/2006/main">
              <a:ext uri="{FF2B5EF4-FFF2-40B4-BE49-F238E27FC236}">
                <a16:creationId xmlns:a16="http://schemas.microsoft.com/office/drawing/2014/main" id="{FDC27423-BBA4-454F-87AC-43D646BA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5310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Topology: cartridge -&gt; Hydro 1F family inflator -&gt; custom 60 L buoy patch. No separate hose, tube, regulator, gauge, or pneumatic cylinder remains in this configuration.</a:t>
            </a:r>
          </a:p>
        </p:txBody>
      </p:sp>
      <p:sp>
        <p:nvSpPr>
          <p:cNvPr id="19" name="evidence-9">
            <a:extLst xmlns:a="http://schemas.openxmlformats.org/drawingml/2006/main">
              <a:ext uri="{FF2B5EF4-FFF2-40B4-BE49-F238E27FC236}">
                <a16:creationId xmlns:a16="http://schemas.microsoft.com/office/drawing/2014/main" id="{7079DBED-C94D-419F-80AE-58D875D8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Pressure Topology; Port-to-Port Table; Pressure Ratings Matrix</a:t>
            </a:r>
          </a:p>
        </p:txBody>
      </p:sp>
      <p:sp>
        <p:nvSpPr>
          <p:cNvPr id="20" name="page-9">
            <a:extLst xmlns:a="http://schemas.openxmlformats.org/drawingml/2006/main">
              <a:ext uri="{FF2B5EF4-FFF2-40B4-BE49-F238E27FC236}">
                <a16:creationId xmlns:a16="http://schemas.microsoft.com/office/drawing/2014/main" id="{FAEB90BF-A353-4558-9170-B030E32C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50373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10">
            <a:extLst xmlns:a="http://schemas.openxmlformats.org/drawingml/2006/main">
              <a:ext uri="{FF2B5EF4-FFF2-40B4-BE49-F238E27FC236}">
                <a16:creationId xmlns:a16="http://schemas.microsoft.com/office/drawing/2014/main" id="{3BAA73BC-D7CD-4651-AEBA-7AA58F59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STINGRAY DIGITAL PRODUCT DEFINITION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62EDB774-0D63-4F40-B0B0-56EF844E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current configuration is custom-heavy and not fabrication-ready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DE7F0B72-CBEC-4118-ACEC-73D0CC57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make-buy-panel">
            <a:extLst xmlns:a="http://schemas.openxmlformats.org/drawingml/2006/main">
              <a:ext uri="{FF2B5EF4-FFF2-40B4-BE49-F238E27FC236}">
                <a16:creationId xmlns:a16="http://schemas.microsoft.com/office/drawing/2014/main" id="{80B9C13B-CACD-4264-9261-24176A24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3528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FEE4E2"/>
            </a:solidFill>
            <a:prstDash val="solid"/>
          </a:ln>
        </p:spPr>
      </p:sp>
      <p:sp>
        <p:nvSpPr>
          <p:cNvPr id="5" name="make-buy-value">
            <a:extLst xmlns:a="http://schemas.openxmlformats.org/drawingml/2006/main">
              <a:ext uri="{FF2B5EF4-FFF2-40B4-BE49-F238E27FC236}">
                <a16:creationId xmlns:a16="http://schemas.microsoft.com/office/drawing/2014/main" id="{E417CDED-116E-40BD-BF07-7F5D7F5D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42318"/>
                </a:solidFill>
              </a:defRPr>
            </a:pPr>
            <a:r>
              <a:rPr sz="3600" b="1">
                <a:solidFill>
                  <a:srgbClr val="B42318"/>
                </a:solidFill>
              </a:rPr>
              <a:t>79 MAKE</a:t>
            </a:r>
          </a:p>
        </p:txBody>
      </p:sp>
      <p:sp>
        <p:nvSpPr>
          <p:cNvPr id="6" name="make-buy-label">
            <a:extLst xmlns:a="http://schemas.openxmlformats.org/drawingml/2006/main">
              <a:ext uri="{FF2B5EF4-FFF2-40B4-BE49-F238E27FC236}">
                <a16:creationId xmlns:a16="http://schemas.microsoft.com/office/drawing/2014/main" id="{40F6E141-FCBD-43FB-B566-45FF030D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custom definitions requiring released manufacturing control</a:t>
            </a:r>
          </a:p>
        </p:txBody>
      </p:sp>
      <p:sp>
        <p:nvSpPr>
          <p:cNvPr id="7" name="buy-count-panel">
            <a:extLst xmlns:a="http://schemas.openxmlformats.org/drawingml/2006/main">
              <a:ext uri="{FF2B5EF4-FFF2-40B4-BE49-F238E27FC236}">
                <a16:creationId xmlns:a16="http://schemas.microsoft.com/office/drawing/2014/main" id="{18383E3C-A374-4EB4-AA53-BDDC86A1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3528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8" name="buy-count-value">
            <a:extLst xmlns:a="http://schemas.openxmlformats.org/drawingml/2006/main">
              <a:ext uri="{FF2B5EF4-FFF2-40B4-BE49-F238E27FC236}">
                <a16:creationId xmlns:a16="http://schemas.microsoft.com/office/drawing/2014/main" id="{7668CF53-FBED-40ED-A6A5-6EC912D3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13 BUY</a:t>
            </a:r>
          </a:p>
        </p:txBody>
      </p:sp>
      <p:sp>
        <p:nvSpPr>
          <p:cNvPr id="9" name="buy-count-label">
            <a:extLst xmlns:a="http://schemas.openxmlformats.org/drawingml/2006/main">
              <a:ext uri="{FF2B5EF4-FFF2-40B4-BE49-F238E27FC236}">
                <a16:creationId xmlns:a16="http://schemas.microsoft.com/office/drawing/2014/main" id="{FA300343-1939-43F3-8AF0-E2A0E43C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catalog or supplier-derived definitions</a:t>
            </a:r>
          </a:p>
        </p:txBody>
      </p:sp>
      <p:sp>
        <p:nvSpPr>
          <p:cNvPr id="10" name="part-export-panel">
            <a:extLst xmlns:a="http://schemas.openxmlformats.org/drawingml/2006/main">
              <a:ext uri="{FF2B5EF4-FFF2-40B4-BE49-F238E27FC236}">
                <a16:creationId xmlns:a16="http://schemas.microsoft.com/office/drawing/2014/main" id="{86D7E2F7-A0E5-402A-AF65-228C6D51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9750"/>
            <a:ext cx="4000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E8F7EF"/>
            </a:solidFill>
            <a:prstDash val="solid"/>
          </a:ln>
        </p:spPr>
      </p:sp>
      <p:sp>
        <p:nvSpPr>
          <p:cNvPr id="11" name="part-export-value">
            <a:extLst xmlns:a="http://schemas.openxmlformats.org/drawingml/2006/main">
              <a:ext uri="{FF2B5EF4-FFF2-40B4-BE49-F238E27FC236}">
                <a16:creationId xmlns:a16="http://schemas.microsoft.com/office/drawing/2014/main" id="{9ED253B7-AA9F-43C7-A99F-E0C36B50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7A4B"/>
                </a:solidFill>
              </a:defRPr>
            </a:pPr>
            <a:r>
              <a:rPr sz="3600" b="1">
                <a:solidFill>
                  <a:srgbClr val="137A4B"/>
                </a:solidFill>
              </a:rPr>
              <a:t>123</a:t>
            </a:r>
          </a:p>
        </p:txBody>
      </p:sp>
      <p:sp>
        <p:nvSpPr>
          <p:cNvPr id="12" name="part-export-label">
            <a:extLst xmlns:a="http://schemas.openxmlformats.org/drawingml/2006/main">
              <a:ext uri="{FF2B5EF4-FFF2-40B4-BE49-F238E27FC236}">
                <a16:creationId xmlns:a16="http://schemas.microsoft.com/office/drawing/2014/main" id="{8FCBEB2D-6870-4A1E-9A1E-E916785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AP242/BREP/render state definitions delivered</a:t>
            </a:r>
          </a:p>
        </p:txBody>
      </p:sp>
      <p:sp>
        <p:nvSpPr>
          <p:cNvPr id="13" name="manufacturing-open">
            <a:extLst xmlns:a="http://schemas.openxmlformats.org/drawingml/2006/main">
              <a:ext uri="{FF2B5EF4-FFF2-40B4-BE49-F238E27FC236}">
                <a16:creationId xmlns:a16="http://schemas.microsoft.com/office/drawing/2014/main" id="{D571DD63-AB1B-4922-9B2E-14AEEEE2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704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Fabrication remains prohibited because the package does not contain approved dimensioned drawings, GD&amp;T, tolerance stacks, process capability, torque/locking data, or validated tool access.</a:t>
            </a:r>
          </a:p>
        </p:txBody>
      </p:sp>
      <p:sp>
        <p:nvSpPr>
          <p:cNvPr id="14" name="manufacturing-panel">
            <a:extLst xmlns:a="http://schemas.openxmlformats.org/drawingml/2006/main">
              <a:ext uri="{FF2B5EF4-FFF2-40B4-BE49-F238E27FC236}">
                <a16:creationId xmlns:a16="http://schemas.microsoft.com/office/drawing/2014/main" id="{6237E27B-2AA9-452B-ACF7-5C1CE51B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38600"/>
            <a:ext cx="38290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5" name="manufacturing-panel-title">
            <a:extLst xmlns:a="http://schemas.openxmlformats.org/drawingml/2006/main">
              <a:ext uri="{FF2B5EF4-FFF2-40B4-BE49-F238E27FC236}">
                <a16:creationId xmlns:a16="http://schemas.microsoft.com/office/drawing/2014/main" id="{3D0B98D7-1029-4A7A-ACFE-5C85F56B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COTS-first objective</a:t>
            </a:r>
          </a:p>
        </p:txBody>
      </p:sp>
      <p:sp>
        <p:nvSpPr>
          <p:cNvPr id="16" name="manufacturing-panel-copy">
            <a:extLst xmlns:a="http://schemas.openxmlformats.org/drawingml/2006/main">
              <a:ext uri="{FF2B5EF4-FFF2-40B4-BE49-F238E27FC236}">
                <a16:creationId xmlns:a16="http://schemas.microsoft.com/office/drawing/2014/main" id="{D23F14FC-5485-41CD-B6D5-1F6E36B9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05350"/>
            <a:ext cx="3371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No complete, orderable commercial inflation module has passed geometry, interface, gas-capacity, and application gates.</a:t>
            </a:r>
          </a:p>
        </p:txBody>
      </p:sp>
      <p:sp>
        <p:nvSpPr>
          <p:cNvPr id="17" name="manufacturing-status-panel">
            <a:extLst xmlns:a="http://schemas.openxmlformats.org/drawingml/2006/main">
              <a:ext uri="{FF2B5EF4-FFF2-40B4-BE49-F238E27FC236}">
                <a16:creationId xmlns:a16="http://schemas.microsoft.com/office/drawing/2014/main" id="{965FB17A-F5DB-40E3-ADD1-1C019E3F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38800"/>
            <a:ext cx="876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8" name="manufacturing-status-text">
            <a:extLst xmlns:a="http://schemas.openxmlformats.org/drawingml/2006/main">
              <a:ext uri="{FF2B5EF4-FFF2-40B4-BE49-F238E27FC236}">
                <a16:creationId xmlns:a16="http://schemas.microsoft.com/office/drawing/2014/main" id="{9543B8DD-6ABE-4D24-A979-9BE9A90F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3405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NO PURCHASE OR FABRICATION AUTHORIZED</a:t>
            </a:r>
          </a:p>
        </p:txBody>
      </p:sp>
      <p:sp>
        <p:nvSpPr>
          <p:cNvPr id="19" name="evidence-10">
            <a:extLst xmlns:a="http://schemas.openxmlformats.org/drawingml/2006/main">
              <a:ext uri="{FF2B5EF4-FFF2-40B4-BE49-F238E27FC236}">
                <a16:creationId xmlns:a16="http://schemas.microsoft.com/office/drawing/2014/main" id="{CDF8B07E-1BC7-4CBC-92A2-FCB68348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Full BOM; Make/Buy Trade Study; Manufactured-Part Drawing Register</a:t>
            </a:r>
          </a:p>
        </p:txBody>
      </p:sp>
      <p:sp>
        <p:nvSpPr>
          <p:cNvPr id="20" name="page-10">
            <a:extLst xmlns:a="http://schemas.openxmlformats.org/drawingml/2006/main">
              <a:ext uri="{FF2B5EF4-FFF2-40B4-BE49-F238E27FC236}">
                <a16:creationId xmlns:a16="http://schemas.microsoft.com/office/drawing/2014/main" id="{6EADE164-DD90-4560-BEF4-7BC2BF82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91556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11">
            <a:extLst xmlns:a="http://schemas.openxmlformats.org/drawingml/2006/main">
              <a:ext uri="{FF2B5EF4-FFF2-40B4-BE49-F238E27FC236}">
                <a16:creationId xmlns:a16="http://schemas.microsoft.com/office/drawing/2014/main" id="{D32D55A8-F411-4B87-9F6A-5798E162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STINGRAY DIGITAL PRODUCT DEFINITION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C2D50D0-C847-444A-AC16-BC3F813E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Release now depends on physical evidence and an architecture correction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FF0847B3-EBDF-40FB-8CCB-0C150246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risk-number-0">
            <a:extLst xmlns:a="http://schemas.openxmlformats.org/drawingml/2006/main">
              <a:ext uri="{FF2B5EF4-FFF2-40B4-BE49-F238E27FC236}">
                <a16:creationId xmlns:a16="http://schemas.microsoft.com/office/drawing/2014/main" id="{D3FF38FB-8C7F-422F-A3DB-3C49810F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5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1</a:t>
            </a:r>
          </a:p>
        </p:txBody>
      </p:sp>
      <p:sp>
        <p:nvSpPr>
          <p:cNvPr id="5" name="risk-title-0">
            <a:extLst xmlns:a="http://schemas.openxmlformats.org/drawingml/2006/main">
              <a:ext uri="{FF2B5EF4-FFF2-40B4-BE49-F238E27FC236}">
                <a16:creationId xmlns:a16="http://schemas.microsoft.com/office/drawing/2014/main" id="{2A81AB67-E29A-47AF-AB49-6C85BFC3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Correct inflation architecture</a:t>
            </a:r>
          </a:p>
        </p:txBody>
      </p:sp>
      <p:sp>
        <p:nvSpPr>
          <p:cNvPr id="6" name="risk-copy-0">
            <a:extLst xmlns:a="http://schemas.openxmlformats.org/drawingml/2006/main">
              <a:ext uri="{FF2B5EF4-FFF2-40B4-BE49-F238E27FC236}">
                <a16:creationId xmlns:a16="http://schemas.microsoft.com/office/drawing/2014/main" id="{D1F5D2AD-89BE-4580-A500-AA0966DF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Select a complete cartridge/inflator/buoy combination that passes capacity and rated-interface gates.</a:t>
            </a:r>
          </a:p>
        </p:txBody>
      </p:sp>
      <p:sp>
        <p:nvSpPr>
          <p:cNvPr id="7" name="risk-rule-0">
            <a:extLst xmlns:a="http://schemas.openxmlformats.org/drawingml/2006/main">
              <a:ext uri="{FF2B5EF4-FFF2-40B4-BE49-F238E27FC236}">
                <a16:creationId xmlns:a16="http://schemas.microsoft.com/office/drawing/2014/main" id="{EE952FE1-3312-4FDD-A86D-4390D4E3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risk-number-1">
            <a:extLst xmlns:a="http://schemas.openxmlformats.org/drawingml/2006/main">
              <a:ext uri="{FF2B5EF4-FFF2-40B4-BE49-F238E27FC236}">
                <a16:creationId xmlns:a16="http://schemas.microsoft.com/office/drawing/2014/main" id="{A5503D66-56DB-4F54-9A3F-AD17BEF9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55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9" name="risk-title-1">
            <a:extLst xmlns:a="http://schemas.openxmlformats.org/drawingml/2006/main">
              <a:ext uri="{FF2B5EF4-FFF2-40B4-BE49-F238E27FC236}">
                <a16:creationId xmlns:a16="http://schemas.microsoft.com/office/drawing/2014/main" id="{4E0C5E39-AA9E-431D-B5FC-E0A393F0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Define loads and release drawings</a:t>
            </a:r>
          </a:p>
        </p:txBody>
      </p:sp>
      <p:sp>
        <p:nvSpPr>
          <p:cNvPr id="10" name="risk-copy-1">
            <a:extLst xmlns:a="http://schemas.openxmlformats.org/drawingml/2006/main">
              <a:ext uri="{FF2B5EF4-FFF2-40B4-BE49-F238E27FC236}">
                <a16:creationId xmlns:a16="http://schemas.microsoft.com/office/drawing/2014/main" id="{86537D9E-9432-4C03-9A01-050E59C0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Control mission, impact, proof, life, tolerance, torque, material, finish, and inspection requirements.</a:t>
            </a:r>
          </a:p>
        </p:txBody>
      </p:sp>
      <p:sp>
        <p:nvSpPr>
          <p:cNvPr id="11" name="risk-rule-1">
            <a:extLst xmlns:a="http://schemas.openxmlformats.org/drawingml/2006/main">
              <a:ext uri="{FF2B5EF4-FFF2-40B4-BE49-F238E27FC236}">
                <a16:creationId xmlns:a16="http://schemas.microsoft.com/office/drawing/2014/main" id="{E5E5AEDD-B0E0-4E82-9396-538F22B9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risk-number-2">
            <a:extLst xmlns:a="http://schemas.openxmlformats.org/drawingml/2006/main">
              <a:ext uri="{FF2B5EF4-FFF2-40B4-BE49-F238E27FC236}">
                <a16:creationId xmlns:a16="http://schemas.microsoft.com/office/drawing/2014/main" id="{2A082AC1-C524-4ACA-8E8F-607F3CEB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55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3" name="risk-title-2">
            <a:extLst xmlns:a="http://schemas.openxmlformats.org/drawingml/2006/main">
              <a:ext uri="{FF2B5EF4-FFF2-40B4-BE49-F238E27FC236}">
                <a16:creationId xmlns:a16="http://schemas.microsoft.com/office/drawing/2014/main" id="{F49576BF-C9E0-4BD6-B3E8-86E051FB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Qualify the physical product</a:t>
            </a:r>
          </a:p>
        </p:txBody>
      </p:sp>
      <p:sp>
        <p:nvSpPr>
          <p:cNvPr id="14" name="risk-copy-2">
            <a:extLst xmlns:a="http://schemas.openxmlformats.org/drawingml/2006/main">
              <a:ext uri="{FF2B5EF4-FFF2-40B4-BE49-F238E27FC236}">
                <a16:creationId xmlns:a16="http://schemas.microsoft.com/office/drawing/2014/main" id="{1C8EBF5F-C9EA-4F9F-A7C5-125D752A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Wet opening, inflation, leak, proof/burst, buoyancy/stability, dynamic, fatigue, corrosion, and assembly trials.</a:t>
            </a:r>
          </a:p>
        </p:txBody>
      </p:sp>
      <p:sp>
        <p:nvSpPr>
          <p:cNvPr id="15" name="risk-rule-2">
            <a:extLst xmlns:a="http://schemas.openxmlformats.org/drawingml/2006/main">
              <a:ext uri="{FF2B5EF4-FFF2-40B4-BE49-F238E27FC236}">
                <a16:creationId xmlns:a16="http://schemas.microsoft.com/office/drawing/2014/main" id="{26103ED4-774C-422E-B18C-5B677711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risk-test-panel">
            <a:extLst xmlns:a="http://schemas.openxmlformats.org/drawingml/2006/main">
              <a:ext uri="{FF2B5EF4-FFF2-40B4-BE49-F238E27FC236}">
                <a16:creationId xmlns:a16="http://schemas.microsoft.com/office/drawing/2014/main" id="{9ABF3608-10C8-41F3-B5B2-2FA076CB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52387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risk-test-title">
            <a:extLst xmlns:a="http://schemas.openxmlformats.org/drawingml/2006/main">
              <a:ext uri="{FF2B5EF4-FFF2-40B4-BE49-F238E27FC236}">
                <a16:creationId xmlns:a16="http://schemas.microsoft.com/office/drawing/2014/main" id="{DC172550-6E6D-467D-B7EB-E3E43D7E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Minimum physical test families</a:t>
            </a:r>
          </a:p>
        </p:txBody>
      </p:sp>
      <p:sp>
        <p:nvSpPr>
          <p:cNvPr id="18" name="risk-test-list">
            <a:extLst xmlns:a="http://schemas.openxmlformats.org/drawingml/2006/main">
              <a:ext uri="{FF2B5EF4-FFF2-40B4-BE49-F238E27FC236}">
                <a16:creationId xmlns:a16="http://schemas.microsoft.com/office/drawing/2014/main" id="{ACCA8164-3E57-4385-B015-F698A22A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44958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- inflation architecture and cold/hot delivery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- wet pack opening and extraction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- buoy proof, burst, leak, lift, and stability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- arm/lock/hardpoint/tether structural proof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- dynamic deployment and handling/drop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- fatigue, wear, corrosion, UV, humidity, storage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- realistic assembly, service, reset, and inspection</a:t>
            </a:r>
          </a:p>
        </p:txBody>
      </p:sp>
      <p:sp>
        <p:nvSpPr>
          <p:cNvPr id="19" name="evidence-11">
            <a:extLst xmlns:a="http://schemas.openxmlformats.org/drawingml/2006/main">
              <a:ext uri="{FF2B5EF4-FFF2-40B4-BE49-F238E27FC236}">
                <a16:creationId xmlns:a16="http://schemas.microsoft.com/office/drawing/2014/main" id="{29DD2B01-E1BD-4D0E-AB38-71E6EDF3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Risk Register/FMEA; Physical Verification Plan</a:t>
            </a:r>
          </a:p>
        </p:txBody>
      </p:sp>
      <p:sp>
        <p:nvSpPr>
          <p:cNvPr id="20" name="page-11">
            <a:extLst xmlns:a="http://schemas.openxmlformats.org/drawingml/2006/main">
              <a:ext uri="{FF2B5EF4-FFF2-40B4-BE49-F238E27FC236}">
                <a16:creationId xmlns:a16="http://schemas.microsoft.com/office/drawing/2014/main" id="{A8DB2D90-3B2F-4A52-A956-41FE4AC0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466848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12">
            <a:extLst xmlns:a="http://schemas.openxmlformats.org/drawingml/2006/main">
              <a:ext uri="{FF2B5EF4-FFF2-40B4-BE49-F238E27FC236}">
                <a16:creationId xmlns:a16="http://schemas.microsoft.com/office/drawing/2014/main" id="{0846331E-19E0-45A3-B3F4-E0CE5B36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STINGRAY DIGITAL PRODUCT DEFINITION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BC25389-0E6B-46B8-8270-3DDA092C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Digital pass; production release fails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98F1C79-708F-4F65-AFBB-B5DA547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gate-pass-panel">
            <a:extLst xmlns:a="http://schemas.openxmlformats.org/drawingml/2006/main">
              <a:ext uri="{FF2B5EF4-FFF2-40B4-BE49-F238E27FC236}">
                <a16:creationId xmlns:a16="http://schemas.microsoft.com/office/drawing/2014/main" id="{CF071719-7E7F-431D-B2F8-5AF204A8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525780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137A4B"/>
            </a:solidFill>
            <a:prstDash val="solid"/>
          </a:ln>
        </p:spPr>
      </p:sp>
      <p:sp>
        <p:nvSpPr>
          <p:cNvPr id="5" name="gate-pass-title">
            <a:extLst xmlns:a="http://schemas.openxmlformats.org/drawingml/2006/main">
              <a:ext uri="{FF2B5EF4-FFF2-40B4-BE49-F238E27FC236}">
                <a16:creationId xmlns:a16="http://schemas.microsoft.com/office/drawing/2014/main" id="{33A62643-3332-44C1-A2BC-332F97E3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A4B"/>
                </a:solidFill>
              </a:defRPr>
            </a:pPr>
            <a:r>
              <a:rPr sz="1950" b="1">
                <a:solidFill>
                  <a:srgbClr val="137A4B"/>
                </a:solidFill>
              </a:rPr>
              <a:t>DIGITAL PASS</a:t>
            </a:r>
          </a:p>
        </p:txBody>
      </p:sp>
      <p:sp>
        <p:nvSpPr>
          <p:cNvPr id="6" name="gate-pass-list">
            <a:extLst xmlns:a="http://schemas.openxmlformats.org/drawingml/2006/main">
              <a:ext uri="{FF2B5EF4-FFF2-40B4-BE49-F238E27FC236}">
                <a16:creationId xmlns:a16="http://schemas.microsoft.com/office/drawing/2014/main" id="{D6105AAB-EABF-486B-9E66-2DC064EB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4572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- clean procedural build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- 180 occurrences per state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- hierarchy, occurrence identities, transforms, and valid solids preserved on reimport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- nominal envelope and mass properties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- endpoint exact-Boolean audit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- five-angle audit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- full 0-80 degree one-degree sweep</a:t>
            </a:r>
          </a:p>
        </p:txBody>
      </p:sp>
      <p:sp>
        <p:nvSpPr>
          <p:cNvPr id="7" name="gate-fail-panel">
            <a:extLst xmlns:a="http://schemas.openxmlformats.org/drawingml/2006/main">
              <a:ext uri="{FF2B5EF4-FFF2-40B4-BE49-F238E27FC236}">
                <a16:creationId xmlns:a16="http://schemas.microsoft.com/office/drawing/2014/main" id="{5C6BD229-D889-4411-AFE2-110B5F1A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56578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8" name="gate-fail-title">
            <a:extLst xmlns:a="http://schemas.openxmlformats.org/drawingml/2006/main">
              <a:ext uri="{FF2B5EF4-FFF2-40B4-BE49-F238E27FC236}">
                <a16:creationId xmlns:a16="http://schemas.microsoft.com/office/drawing/2014/main" id="{67FBE6E5-2397-41AC-8D7F-14B0B54E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08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42318"/>
                </a:solidFill>
              </a:defRPr>
            </a:pPr>
            <a:r>
              <a:rPr sz="1950" b="1">
                <a:solidFill>
                  <a:srgbClr val="B42318"/>
                </a:solidFill>
              </a:rPr>
              <a:t>RELEASE FAIL</a:t>
            </a:r>
          </a:p>
        </p:txBody>
      </p:sp>
      <p:sp>
        <p:nvSpPr>
          <p:cNvPr id="9" name="gate-fail-list">
            <a:extLst xmlns:a="http://schemas.openxmlformats.org/drawingml/2006/main">
              <a:ext uri="{FF2B5EF4-FFF2-40B4-BE49-F238E27FC236}">
                <a16:creationId xmlns:a16="http://schemas.microsoft.com/office/drawing/2014/main" id="{17B85C3F-F39E-4EB8-BCF8-80059484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49530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- 12 g / 60 L gas-capacity mismatch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- inflator suffix, exact geometry, ratings, and leak/flow unknown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- proxy and developmental softgood envelopes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- required load/strength/tolerance analyses incomplete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- manufacturing drawings and work instructions absent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- physical qualification absent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- AP242 bytes not reproducible across identical builds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- root assembly naming nonconformance remains open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- required screenshots and newer attachment placeholders absent</a:t>
            </a:r>
          </a:p>
        </p:txBody>
      </p:sp>
      <p:sp>
        <p:nvSpPr>
          <p:cNvPr id="10" name="evidence-12">
            <a:extLst xmlns:a="http://schemas.openxmlformats.org/drawingml/2006/main">
              <a:ext uri="{FF2B5EF4-FFF2-40B4-BE49-F238E27FC236}">
                <a16:creationId xmlns:a16="http://schemas.microsoft.com/office/drawing/2014/main" id="{50380BBB-CC8B-4335-9E12-45424E79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Objective Release Gate Table; Non-Release Exception Report</a:t>
            </a:r>
          </a:p>
        </p:txBody>
      </p:sp>
      <p:sp>
        <p:nvSpPr>
          <p:cNvPr id="11" name="page-12">
            <a:extLst xmlns:a="http://schemas.openxmlformats.org/drawingml/2006/main">
              <a:ext uri="{FF2B5EF4-FFF2-40B4-BE49-F238E27FC236}">
                <a16:creationId xmlns:a16="http://schemas.microsoft.com/office/drawing/2014/main" id="{D40E5DFB-CECA-4DBF-AB8F-E588F3B7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00112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158974DB-AAE8-48B7-9CDC-F002D3AB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DECISION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466F602-D629-4D89-A371-10AD5570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Do not release this configuration</a:t>
            </a:r>
          </a:p>
        </p:txBody>
      </p:sp>
      <p:sp>
        <p:nvSpPr>
          <p:cNvPr id="3" name="close-copy">
            <a:extLst xmlns:a="http://schemas.openxmlformats.org/drawingml/2006/main">
              <a:ext uri="{FF2B5EF4-FFF2-40B4-BE49-F238E27FC236}">
                <a16:creationId xmlns:a16="http://schemas.microsoft.com/office/drawing/2014/main" id="{BA204FD2-B846-4599-9E02-B4CA140C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7715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</a:defRPr>
            </a:pPr>
            <a:r>
              <a:rPr sz="1875">
                <a:solidFill>
                  <a:srgbClr val="000000"/>
                </a:solidFill>
              </a:rPr>
              <a:t>Use the frozen digital package as a controlled engineering baseline. Correct the inflation architecture first; then define loads, complete manufacturing definition, qualify the physical product, and rerun independent review.</a:t>
            </a:r>
          </a:p>
        </p:txBody>
      </p:sp>
      <p:sp>
        <p:nvSpPr>
          <p:cNvPr id="4" name="close-status-panel">
            <a:extLst xmlns:a="http://schemas.openxmlformats.org/drawingml/2006/main">
              <a:ext uri="{FF2B5EF4-FFF2-40B4-BE49-F238E27FC236}">
                <a16:creationId xmlns:a16="http://schemas.microsoft.com/office/drawing/2014/main" id="{A471CB7F-D778-4476-9306-E11C165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600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close-status-text">
            <a:extLst xmlns:a="http://schemas.openxmlformats.org/drawingml/2006/main">
              <a:ext uri="{FF2B5EF4-FFF2-40B4-BE49-F238E27FC236}">
                <a16:creationId xmlns:a16="http://schemas.microsoft.com/office/drawing/2014/main" id="{3FF15419-66E5-430B-AA88-83F040F1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573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AUTHORIZATION: ENGINEERING REVIEW ONLY</a:t>
            </a:r>
          </a:p>
        </p:txBody>
      </p:sp>
      <p:sp>
        <p:nvSpPr>
          <p:cNvPr id="6" name="close-prohibitions">
            <a:extLst xmlns:a="http://schemas.openxmlformats.org/drawingml/2006/main">
              <a:ext uri="{FF2B5EF4-FFF2-40B4-BE49-F238E27FC236}">
                <a16:creationId xmlns:a16="http://schemas.microsoft.com/office/drawing/2014/main" id="{A17186F8-8984-4054-8992-ED4FD584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No fabrication. No purchase. No qualification acceptance. No field use. No merge to main.</a:t>
            </a:r>
          </a:p>
        </p:txBody>
      </p:sp>
      <p:sp>
        <p:nvSpPr>
          <p:cNvPr id="7" name="close-panel">
            <a:extLst xmlns:a="http://schemas.openxmlformats.org/drawingml/2006/main">
              <a:ext uri="{FF2B5EF4-FFF2-40B4-BE49-F238E27FC236}">
                <a16:creationId xmlns:a16="http://schemas.microsoft.com/office/drawing/2014/main" id="{3B1A18DE-D294-4B14-955F-F0C8B1D5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85850"/>
            <a:ext cx="3219450" cy="45529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lose-panel-title">
            <a:extLst xmlns:a="http://schemas.openxmlformats.org/drawingml/2006/main">
              <a:ext uri="{FF2B5EF4-FFF2-40B4-BE49-F238E27FC236}">
                <a16:creationId xmlns:a16="http://schemas.microsoft.com/office/drawing/2014/main" id="{EA36907D-BA5C-4A1F-8C15-28E13040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Next gate</a:t>
            </a:r>
          </a:p>
        </p:txBody>
      </p:sp>
      <p:sp>
        <p:nvSpPr>
          <p:cNvPr id="9" name="close-panel-copy">
            <a:extLst xmlns:a="http://schemas.openxmlformats.org/drawingml/2006/main">
              <a:ext uri="{FF2B5EF4-FFF2-40B4-BE49-F238E27FC236}">
                <a16:creationId xmlns:a16="http://schemas.microsoft.com/office/drawing/2014/main" id="{B5A35D49-8EEE-42F6-8C21-5FEED4FA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6479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Bring back one complete, orderable, source-supported inflation module and a controlled 60 L requirement. If none passes, stop with a measured architecture decision.</a:t>
            </a:r>
          </a:p>
        </p:txBody>
      </p:sp>
      <p:sp>
        <p:nvSpPr>
          <p:cNvPr id="10" name="close-panel-proof">
            <a:extLst xmlns:a="http://schemas.openxmlformats.org/drawingml/2006/main">
              <a:ext uri="{FF2B5EF4-FFF2-40B4-BE49-F238E27FC236}">
                <a16:creationId xmlns:a16="http://schemas.microsoft.com/office/drawing/2014/main" id="{F2A7BE17-8419-4671-B57F-22C35E20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647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Digital baseline retained:</a:t>
            </a:r>
          </a:p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STOWED / DEPLOYED AP242</a:t>
            </a:r>
          </a:p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- 92 unique parts</a:t>
            </a:r>
          </a:p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- 123 state definitions</a:t>
            </a:r>
          </a:p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- full 81-position audit</a:t>
            </a:r>
          </a:p>
        </p:txBody>
      </p:sp>
      <p:sp>
        <p:nvSpPr>
          <p:cNvPr id="11" name="evidence-13">
            <a:extLst xmlns:a="http://schemas.openxmlformats.org/drawingml/2006/main">
              <a:ext uri="{FF2B5EF4-FFF2-40B4-BE49-F238E27FC236}">
                <a16:creationId xmlns:a16="http://schemas.microsoft.com/office/drawing/2014/main" id="{5307203F-8DDE-4202-B4AC-C82F4CC6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Evidence: Release Index; Make/Buy Trade Study; Physical Verification Plan</a:t>
            </a:r>
          </a:p>
        </p:txBody>
      </p:sp>
      <p:sp>
        <p:nvSpPr>
          <p:cNvPr id="12" name="page-13">
            <a:extLst xmlns:a="http://schemas.openxmlformats.org/drawingml/2006/main">
              <a:ext uri="{FF2B5EF4-FFF2-40B4-BE49-F238E27FC236}">
                <a16:creationId xmlns:a16="http://schemas.microsoft.com/office/drawing/2014/main" id="{D1B6BD79-BF00-43F7-86C4-D1AC962D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8601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2026-08-26T10:13:53.4820000Z</dcterms:created>
  <dcterms:modified xsi:type="dcterms:W3CDTF">2026-08-26T10:13:53.4820000Z</dcterms:modified>
</coreProperties>
</file>